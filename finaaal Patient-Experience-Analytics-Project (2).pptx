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8" r:id="rId11"/>
    <p:sldId id="279" r:id="rId12"/>
    <p:sldId id="280" r:id="rId13"/>
    <p:sldId id="265" r:id="rId14"/>
    <p:sldId id="266" r:id="rId15"/>
    <p:sldId id="281" r:id="rId16"/>
    <p:sldId id="267" r:id="rId17"/>
    <p:sldId id="282" r:id="rId18"/>
    <p:sldId id="268" r:id="rId19"/>
    <p:sldId id="283" r:id="rId20"/>
    <p:sldId id="269" r:id="rId21"/>
    <p:sldId id="284" r:id="rId22"/>
    <p:sldId id="270" r:id="rId23"/>
    <p:sldId id="285" r:id="rId24"/>
    <p:sldId id="271" r:id="rId25"/>
    <p:sldId id="286" r:id="rId26"/>
    <p:sldId id="272" r:id="rId27"/>
    <p:sldId id="288" r:id="rId28"/>
    <p:sldId id="273" r:id="rId29"/>
    <p:sldId id="287" r:id="rId30"/>
    <p:sldId id="274" r:id="rId31"/>
    <p:sldId id="289" r:id="rId32"/>
    <p:sldId id="275" r:id="rId33"/>
    <p:sldId id="276" r:id="rId34"/>
  </p:sldIdLst>
  <p:sldSz cx="9144000" cy="5143500" type="screen16x9"/>
  <p:notesSz cx="5143500" cy="9144000"/>
  <p:embeddedFontLst>
    <p:embeddedFont>
      <p:font typeface="Epilogue" panose="020B0604020202020204" charset="0"/>
      <p:regular r:id="rId36"/>
    </p:embeddedFont>
    <p:embeddedFont>
      <p:font typeface="Fraunces Medium" panose="020B0604020202020204" charset="0"/>
      <p:regular r:id="rId3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2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64882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5562" y="309339"/>
            <a:ext cx="1202829" cy="154409"/>
          </a:xfrm>
          <a:prstGeom prst="roundRect">
            <a:avLst>
              <a:gd name="adj" fmla="val 20245"/>
            </a:avLst>
          </a:prstGeom>
          <a:solidFill>
            <a:srgbClr val="181E34"/>
          </a:solidFill>
          <a:ln/>
        </p:spPr>
      </p:sp>
      <p:sp>
        <p:nvSpPr>
          <p:cNvPr id="3" name="Text 1"/>
          <p:cNvSpPr/>
          <p:nvPr/>
        </p:nvSpPr>
        <p:spPr>
          <a:xfrm>
            <a:off x="381372" y="337245"/>
            <a:ext cx="1548408" cy="98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HOSPITALIA HEALTH &amp; WELLNESS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325562" y="488156"/>
            <a:ext cx="8519740" cy="581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Patient Experience Analytics Project</a:t>
            </a:r>
            <a:endParaRPr lang="en-US" sz="3650" dirty="0"/>
          </a:p>
        </p:txBody>
      </p:sp>
      <p:sp>
        <p:nvSpPr>
          <p:cNvPr id="5" name="Text 3"/>
          <p:cNvSpPr/>
          <p:nvPr/>
        </p:nvSpPr>
        <p:spPr>
          <a:xfrm>
            <a:off x="325562" y="1161083"/>
            <a:ext cx="5613276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NPS-Driven Healthcare Performance &amp; Profitability Study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325562" y="1485156"/>
            <a:ext cx="8492877" cy="558180"/>
          </a:xfrm>
          <a:prstGeom prst="roundRect">
            <a:avLst>
              <a:gd name="adj" fmla="val 7000"/>
            </a:avLst>
          </a:prstGeom>
          <a:solidFill>
            <a:srgbClr val="080E26"/>
          </a:solidFill>
          <a:ln w="9525">
            <a:solidFill>
              <a:srgbClr val="414A7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35087" y="1494681"/>
            <a:ext cx="372070" cy="539130"/>
          </a:xfrm>
          <a:prstGeom prst="roundRect">
            <a:avLst>
              <a:gd name="adj" fmla="val 7430"/>
            </a:avLst>
          </a:prstGeom>
          <a:solidFill>
            <a:srgbClr val="283157"/>
          </a:solidFill>
          <a:ln/>
        </p:spPr>
      </p:sp>
      <p:sp>
        <p:nvSpPr>
          <p:cNvPr id="8" name="Text 6"/>
          <p:cNvSpPr/>
          <p:nvPr/>
        </p:nvSpPr>
        <p:spPr>
          <a:xfrm>
            <a:off x="768176" y="1587698"/>
            <a:ext cx="1162869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Amr Zaki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68176" y="1769641"/>
            <a:ext cx="7947720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Data Cleaning &amp; Modeling, SQL, Power BI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325562" y="2104355"/>
            <a:ext cx="8492877" cy="558180"/>
          </a:xfrm>
          <a:prstGeom prst="roundRect">
            <a:avLst>
              <a:gd name="adj" fmla="val 7000"/>
            </a:avLst>
          </a:prstGeom>
          <a:solidFill>
            <a:srgbClr val="080E26"/>
          </a:solidFill>
          <a:ln w="9525">
            <a:solidFill>
              <a:srgbClr val="414A7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5087" y="2113880"/>
            <a:ext cx="372070" cy="539130"/>
          </a:xfrm>
          <a:prstGeom prst="roundRect">
            <a:avLst>
              <a:gd name="adj" fmla="val 7430"/>
            </a:avLst>
          </a:prstGeom>
          <a:solidFill>
            <a:srgbClr val="283157"/>
          </a:solidFill>
          <a:ln/>
        </p:spPr>
      </p:sp>
      <p:sp>
        <p:nvSpPr>
          <p:cNvPr id="12" name="Text 10"/>
          <p:cNvSpPr/>
          <p:nvPr/>
        </p:nvSpPr>
        <p:spPr>
          <a:xfrm>
            <a:off x="768176" y="2206898"/>
            <a:ext cx="1162869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Omnia Magdy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68176" y="2388840"/>
            <a:ext cx="7947720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Tableau Dashboards &amp; Presentation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325562" y="2723555"/>
            <a:ext cx="8492877" cy="558180"/>
          </a:xfrm>
          <a:prstGeom prst="roundRect">
            <a:avLst>
              <a:gd name="adj" fmla="val 7000"/>
            </a:avLst>
          </a:prstGeom>
          <a:solidFill>
            <a:srgbClr val="080E26"/>
          </a:solidFill>
          <a:ln w="9525">
            <a:solidFill>
              <a:srgbClr val="414A7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5087" y="2733080"/>
            <a:ext cx="372070" cy="539130"/>
          </a:xfrm>
          <a:prstGeom prst="roundRect">
            <a:avLst>
              <a:gd name="adj" fmla="val 7430"/>
            </a:avLst>
          </a:prstGeom>
          <a:solidFill>
            <a:srgbClr val="283157"/>
          </a:solidFill>
          <a:ln/>
        </p:spPr>
      </p:sp>
      <p:sp>
        <p:nvSpPr>
          <p:cNvPr id="16" name="Text 14"/>
          <p:cNvSpPr/>
          <p:nvPr/>
        </p:nvSpPr>
        <p:spPr>
          <a:xfrm>
            <a:off x="768176" y="2826097"/>
            <a:ext cx="1162869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Rawan Mahmoud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68176" y="3008040"/>
            <a:ext cx="7947720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Data Analysis, Excel Dashboard, Python, Documentation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325562" y="3342754"/>
            <a:ext cx="8492877" cy="558180"/>
          </a:xfrm>
          <a:prstGeom prst="roundRect">
            <a:avLst>
              <a:gd name="adj" fmla="val 7000"/>
            </a:avLst>
          </a:prstGeom>
          <a:solidFill>
            <a:srgbClr val="080E26"/>
          </a:solidFill>
          <a:ln w="9525">
            <a:solidFill>
              <a:srgbClr val="414A7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35087" y="3352279"/>
            <a:ext cx="372070" cy="539130"/>
          </a:xfrm>
          <a:prstGeom prst="roundRect">
            <a:avLst>
              <a:gd name="adj" fmla="val 7430"/>
            </a:avLst>
          </a:prstGeom>
          <a:solidFill>
            <a:srgbClr val="283157"/>
          </a:solidFill>
          <a:ln/>
        </p:spPr>
      </p:sp>
      <p:sp>
        <p:nvSpPr>
          <p:cNvPr id="20" name="Text 18"/>
          <p:cNvSpPr/>
          <p:nvPr/>
        </p:nvSpPr>
        <p:spPr>
          <a:xfrm>
            <a:off x="768176" y="3445297"/>
            <a:ext cx="1162869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Fatma Ali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68176" y="3627239"/>
            <a:ext cx="7947720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Excel Statistics &amp; Descriptive Analysis, Power BI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325562" y="3961954"/>
            <a:ext cx="8492877" cy="558180"/>
          </a:xfrm>
          <a:prstGeom prst="roundRect">
            <a:avLst>
              <a:gd name="adj" fmla="val 7000"/>
            </a:avLst>
          </a:prstGeom>
          <a:solidFill>
            <a:srgbClr val="080E26"/>
          </a:solidFill>
          <a:ln w="9525">
            <a:solidFill>
              <a:srgbClr val="414A7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35087" y="3971479"/>
            <a:ext cx="372070" cy="539130"/>
          </a:xfrm>
          <a:prstGeom prst="roundRect">
            <a:avLst>
              <a:gd name="adj" fmla="val 7430"/>
            </a:avLst>
          </a:prstGeom>
          <a:solidFill>
            <a:srgbClr val="283157"/>
          </a:solidFill>
          <a:ln/>
        </p:spPr>
      </p:sp>
      <p:sp>
        <p:nvSpPr>
          <p:cNvPr id="24" name="Text 22"/>
          <p:cNvSpPr/>
          <p:nvPr/>
        </p:nvSpPr>
        <p:spPr>
          <a:xfrm>
            <a:off x="768176" y="4064496"/>
            <a:ext cx="1162869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Mostafa Samir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68176" y="4246438"/>
            <a:ext cx="7947720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Helped in insights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325562" y="4612035"/>
            <a:ext cx="8492877" cy="6921"/>
          </a:xfrm>
          <a:prstGeom prst="rect">
            <a:avLst/>
          </a:prstGeom>
          <a:solidFill>
            <a:srgbClr val="EBECEF">
              <a:alpha val="5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325562" y="4710857"/>
            <a:ext cx="8818438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Prepared by Dr. Amal Mahmoud | Academic Year 2024-2025 | Care · Compassion · Excellence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71304" y="525214"/>
            <a:ext cx="37727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Presentation Agenda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251719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EBECEF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01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1473622"/>
            <a:ext cx="2622724" cy="19050"/>
          </a:xfrm>
          <a:prstGeom prst="rect">
            <a:avLst/>
          </a:prstGeom>
          <a:solidFill>
            <a:srgbClr val="8C98CA"/>
          </a:solidFill>
          <a:ln/>
        </p:spPr>
      </p:sp>
      <p:sp>
        <p:nvSpPr>
          <p:cNvPr id="5" name="Text 3"/>
          <p:cNvSpPr/>
          <p:nvPr/>
        </p:nvSpPr>
        <p:spPr>
          <a:xfrm>
            <a:off x="496119" y="1582564"/>
            <a:ext cx="2622724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Project Overview and Why We Selected It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260601" y="1251719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EBECEF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60601" y="1473622"/>
            <a:ext cx="2622724" cy="19050"/>
          </a:xfrm>
          <a:prstGeom prst="rect">
            <a:avLst/>
          </a:prstGeom>
          <a:solidFill>
            <a:srgbClr val="8C98CA"/>
          </a:solidFill>
          <a:ln/>
        </p:spPr>
      </p:sp>
      <p:sp>
        <p:nvSpPr>
          <p:cNvPr id="8" name="Text 6"/>
          <p:cNvSpPr/>
          <p:nvPr/>
        </p:nvSpPr>
        <p:spPr>
          <a:xfrm>
            <a:off x="3260601" y="1582564"/>
            <a:ext cx="2622724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4W's and How's and Data Exploration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025083" y="1251719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EBECEF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03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25083" y="1473622"/>
            <a:ext cx="2622724" cy="19050"/>
          </a:xfrm>
          <a:prstGeom prst="rect">
            <a:avLst/>
          </a:prstGeom>
          <a:solidFill>
            <a:srgbClr val="8C98CA"/>
          </a:solidFill>
          <a:ln/>
        </p:spPr>
      </p:sp>
      <p:sp>
        <p:nvSpPr>
          <p:cNvPr id="11" name="Text 9"/>
          <p:cNvSpPr/>
          <p:nvPr/>
        </p:nvSpPr>
        <p:spPr>
          <a:xfrm>
            <a:off x="6025083" y="1582564"/>
            <a:ext cx="2622724" cy="13287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Project Summary (Data Cleaning, Outlier Treatment, Feature Engineering, Descriptive Statistics, Data Modeling, Insights Derived, Dashboards)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96119" y="3159323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EBECEF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04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96119" y="3381226"/>
            <a:ext cx="2622724" cy="19050"/>
          </a:xfrm>
          <a:prstGeom prst="rect">
            <a:avLst/>
          </a:prstGeom>
          <a:solidFill>
            <a:srgbClr val="8C98CA"/>
          </a:solidFill>
          <a:ln/>
        </p:spPr>
      </p:sp>
      <p:sp>
        <p:nvSpPr>
          <p:cNvPr id="14" name="Text 12"/>
          <p:cNvSpPr/>
          <p:nvPr/>
        </p:nvSpPr>
        <p:spPr>
          <a:xfrm>
            <a:off x="496119" y="349016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Excel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260601" y="3159323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EBECEF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05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60601" y="3381226"/>
            <a:ext cx="2622724" cy="19050"/>
          </a:xfrm>
          <a:prstGeom prst="rect">
            <a:avLst/>
          </a:prstGeom>
          <a:solidFill>
            <a:srgbClr val="8C98CA"/>
          </a:solidFill>
          <a:ln/>
        </p:spPr>
      </p:sp>
      <p:sp>
        <p:nvSpPr>
          <p:cNvPr id="17" name="Text 15"/>
          <p:cNvSpPr/>
          <p:nvPr/>
        </p:nvSpPr>
        <p:spPr>
          <a:xfrm>
            <a:off x="3260601" y="349016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SQL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025083" y="3159323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EBECEF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06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25083" y="3381226"/>
            <a:ext cx="2622724" cy="19050"/>
          </a:xfrm>
          <a:prstGeom prst="rect">
            <a:avLst/>
          </a:prstGeom>
          <a:solidFill>
            <a:srgbClr val="8C98CA"/>
          </a:solidFill>
          <a:ln/>
        </p:spPr>
      </p:sp>
      <p:sp>
        <p:nvSpPr>
          <p:cNvPr id="20" name="Text 18"/>
          <p:cNvSpPr/>
          <p:nvPr/>
        </p:nvSpPr>
        <p:spPr>
          <a:xfrm>
            <a:off x="6025083" y="349016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Python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96119" y="3959647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EBECEF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07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96119" y="4181549"/>
            <a:ext cx="2622724" cy="19050"/>
          </a:xfrm>
          <a:prstGeom prst="rect">
            <a:avLst/>
          </a:prstGeom>
          <a:solidFill>
            <a:srgbClr val="8C98CA"/>
          </a:solidFill>
          <a:ln/>
        </p:spPr>
      </p:sp>
      <p:sp>
        <p:nvSpPr>
          <p:cNvPr id="23" name="Text 21"/>
          <p:cNvSpPr/>
          <p:nvPr/>
        </p:nvSpPr>
        <p:spPr>
          <a:xfrm>
            <a:off x="496119" y="429049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Power BI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3260601" y="3959647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EBECEF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08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60601" y="4181549"/>
            <a:ext cx="2622724" cy="19050"/>
          </a:xfrm>
          <a:prstGeom prst="rect">
            <a:avLst/>
          </a:prstGeom>
          <a:solidFill>
            <a:srgbClr val="8C98CA"/>
          </a:solidFill>
          <a:ln/>
        </p:spPr>
      </p:sp>
      <p:sp>
        <p:nvSpPr>
          <p:cNvPr id="26" name="Text 24"/>
          <p:cNvSpPr/>
          <p:nvPr/>
        </p:nvSpPr>
        <p:spPr>
          <a:xfrm>
            <a:off x="3260601" y="429049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Tableau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025083" y="3959647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EBECEF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09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025083" y="4181549"/>
            <a:ext cx="2622724" cy="19050"/>
          </a:xfrm>
          <a:prstGeom prst="rect">
            <a:avLst/>
          </a:prstGeom>
          <a:solidFill>
            <a:srgbClr val="8C98CA"/>
          </a:solidFill>
          <a:ln/>
        </p:spPr>
      </p:sp>
      <p:sp>
        <p:nvSpPr>
          <p:cNvPr id="29" name="Text 27"/>
          <p:cNvSpPr/>
          <p:nvPr/>
        </p:nvSpPr>
        <p:spPr>
          <a:xfrm>
            <a:off x="6025083" y="429049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Final Insights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07982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5162" y="1463427"/>
            <a:ext cx="2616919" cy="269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Project Overview</a:t>
            </a:r>
            <a:endParaRPr lang="en-US" sz="1700" dirty="0"/>
          </a:p>
        </p:txBody>
      </p:sp>
      <p:sp>
        <p:nvSpPr>
          <p:cNvPr id="4" name="Text 1"/>
          <p:cNvSpPr/>
          <p:nvPr/>
        </p:nvSpPr>
        <p:spPr>
          <a:xfrm>
            <a:off x="465162" y="1754312"/>
            <a:ext cx="2184946" cy="215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Dataset Information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455637" y="2039689"/>
            <a:ext cx="19050" cy="296689"/>
          </a:xfrm>
          <a:prstGeom prst="rect">
            <a:avLst/>
          </a:prstGeom>
          <a:solidFill>
            <a:srgbClr val="8C98CA"/>
          </a:solidFill>
          <a:ln/>
        </p:spPr>
      </p:sp>
      <p:sp>
        <p:nvSpPr>
          <p:cNvPr id="6" name="Text 3"/>
          <p:cNvSpPr/>
          <p:nvPr/>
        </p:nvSpPr>
        <p:spPr>
          <a:xfrm>
            <a:off x="570533" y="2049214"/>
            <a:ext cx="1079822" cy="134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Total Records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70533" y="2215679"/>
            <a:ext cx="2588642" cy="111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6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10,000 patient-level survey records</a:t>
            </a:r>
            <a:endParaRPr lang="en-US" sz="650" dirty="0"/>
          </a:p>
        </p:txBody>
      </p:sp>
      <p:sp>
        <p:nvSpPr>
          <p:cNvPr id="8" name="Shape 5"/>
          <p:cNvSpPr/>
          <p:nvPr/>
        </p:nvSpPr>
        <p:spPr>
          <a:xfrm>
            <a:off x="3215432" y="2039689"/>
            <a:ext cx="19050" cy="296689"/>
          </a:xfrm>
          <a:prstGeom prst="rect">
            <a:avLst/>
          </a:prstGeom>
          <a:solidFill>
            <a:srgbClr val="8C98CA"/>
          </a:solidFill>
          <a:ln/>
        </p:spPr>
      </p:sp>
      <p:sp>
        <p:nvSpPr>
          <p:cNvPr id="9" name="Text 6"/>
          <p:cNvSpPr/>
          <p:nvPr/>
        </p:nvSpPr>
        <p:spPr>
          <a:xfrm>
            <a:off x="3330327" y="2049214"/>
            <a:ext cx="1079822" cy="134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Time Period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3330327" y="2215679"/>
            <a:ext cx="2588642" cy="111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6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2024-2025</a:t>
            </a:r>
            <a:endParaRPr lang="en-US" sz="650" dirty="0"/>
          </a:p>
        </p:txBody>
      </p:sp>
      <p:sp>
        <p:nvSpPr>
          <p:cNvPr id="11" name="Shape 8"/>
          <p:cNvSpPr/>
          <p:nvPr/>
        </p:nvSpPr>
        <p:spPr>
          <a:xfrm>
            <a:off x="5975226" y="2039689"/>
            <a:ext cx="19050" cy="296689"/>
          </a:xfrm>
          <a:prstGeom prst="rect">
            <a:avLst/>
          </a:prstGeom>
          <a:solidFill>
            <a:srgbClr val="8C98CA"/>
          </a:solidFill>
          <a:ln/>
        </p:spPr>
      </p:sp>
      <p:sp>
        <p:nvSpPr>
          <p:cNvPr id="12" name="Text 9"/>
          <p:cNvSpPr/>
          <p:nvPr/>
        </p:nvSpPr>
        <p:spPr>
          <a:xfrm>
            <a:off x="6090121" y="2049214"/>
            <a:ext cx="1079822" cy="134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Hospital Branches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6090121" y="2215679"/>
            <a:ext cx="2588642" cy="111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6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4 branches (Central, North, South, East, West)</a:t>
            </a:r>
            <a:endParaRPr lang="en-US" sz="650" dirty="0"/>
          </a:p>
        </p:txBody>
      </p:sp>
      <p:sp>
        <p:nvSpPr>
          <p:cNvPr id="14" name="Shape 11"/>
          <p:cNvSpPr/>
          <p:nvPr/>
        </p:nvSpPr>
        <p:spPr>
          <a:xfrm>
            <a:off x="455637" y="2422550"/>
            <a:ext cx="19050" cy="296689"/>
          </a:xfrm>
          <a:prstGeom prst="rect">
            <a:avLst/>
          </a:prstGeom>
          <a:solidFill>
            <a:srgbClr val="8C98CA"/>
          </a:solidFill>
          <a:ln/>
        </p:spPr>
      </p:sp>
      <p:sp>
        <p:nvSpPr>
          <p:cNvPr id="15" name="Text 12"/>
          <p:cNvSpPr/>
          <p:nvPr/>
        </p:nvSpPr>
        <p:spPr>
          <a:xfrm>
            <a:off x="570533" y="2432075"/>
            <a:ext cx="1079822" cy="134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Departments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570533" y="2598539"/>
            <a:ext cx="3968502" cy="111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6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8 departments</a:t>
            </a:r>
            <a:endParaRPr lang="en-US" sz="650" dirty="0"/>
          </a:p>
        </p:txBody>
      </p:sp>
      <p:sp>
        <p:nvSpPr>
          <p:cNvPr id="17" name="Shape 14"/>
          <p:cNvSpPr/>
          <p:nvPr/>
        </p:nvSpPr>
        <p:spPr>
          <a:xfrm>
            <a:off x="4595292" y="2422550"/>
            <a:ext cx="19050" cy="296689"/>
          </a:xfrm>
          <a:prstGeom prst="rect">
            <a:avLst/>
          </a:prstGeom>
          <a:solidFill>
            <a:srgbClr val="8C98CA"/>
          </a:solidFill>
          <a:ln/>
        </p:spPr>
      </p:sp>
      <p:sp>
        <p:nvSpPr>
          <p:cNvPr id="18" name="Text 15"/>
          <p:cNvSpPr/>
          <p:nvPr/>
        </p:nvSpPr>
        <p:spPr>
          <a:xfrm>
            <a:off x="4710187" y="2432075"/>
            <a:ext cx="1079822" cy="134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Columns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4710187" y="2598539"/>
            <a:ext cx="3968576" cy="111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6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20+ attributes including NPS Score, Waiting Time, Doctor Rating, Treatment Cost, etc.</a:t>
            </a:r>
            <a:endParaRPr lang="en-US" sz="650" dirty="0"/>
          </a:p>
        </p:txBody>
      </p:sp>
      <p:sp>
        <p:nvSpPr>
          <p:cNvPr id="20" name="Text 17"/>
          <p:cNvSpPr/>
          <p:nvPr/>
        </p:nvSpPr>
        <p:spPr>
          <a:xfrm>
            <a:off x="465162" y="2788667"/>
            <a:ext cx="2184946" cy="215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Project Context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465162" y="3083570"/>
            <a:ext cx="8670875" cy="111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6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Hospitalia Health &amp; Wellness is a multi-branch hospital network that identified declining Net Promoter Score (NPS) and its correlation with reduced profitability. This project aims to:</a:t>
            </a:r>
            <a:endParaRPr lang="en-US" sz="650" dirty="0"/>
          </a:p>
        </p:txBody>
      </p:sp>
      <p:sp>
        <p:nvSpPr>
          <p:cNvPr id="22" name="Shape 19"/>
          <p:cNvSpPr/>
          <p:nvPr/>
        </p:nvSpPr>
        <p:spPr>
          <a:xfrm>
            <a:off x="465162" y="3301380"/>
            <a:ext cx="43160" cy="43160"/>
          </a:xfrm>
          <a:prstGeom prst="roundRect">
            <a:avLst>
              <a:gd name="adj" fmla="val 662071"/>
            </a:avLst>
          </a:prstGeom>
          <a:solidFill>
            <a:srgbClr val="8C98CA"/>
          </a:solidFill>
          <a:ln/>
        </p:spPr>
      </p:sp>
      <p:sp>
        <p:nvSpPr>
          <p:cNvPr id="23" name="Text 20"/>
          <p:cNvSpPr/>
          <p:nvPr/>
        </p:nvSpPr>
        <p:spPr>
          <a:xfrm>
            <a:off x="560933" y="3253904"/>
            <a:ext cx="3978176" cy="111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6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Identify root causes of NPS decline</a:t>
            </a:r>
            <a:endParaRPr lang="en-US" sz="650" dirty="0"/>
          </a:p>
        </p:txBody>
      </p:sp>
      <p:sp>
        <p:nvSpPr>
          <p:cNvPr id="24" name="Shape 21"/>
          <p:cNvSpPr/>
          <p:nvPr/>
        </p:nvSpPr>
        <p:spPr>
          <a:xfrm>
            <a:off x="4604891" y="3301380"/>
            <a:ext cx="43160" cy="43160"/>
          </a:xfrm>
          <a:prstGeom prst="roundRect">
            <a:avLst>
              <a:gd name="adj" fmla="val 662071"/>
            </a:avLst>
          </a:prstGeom>
          <a:solidFill>
            <a:srgbClr val="8C98CA"/>
          </a:solidFill>
          <a:ln/>
        </p:spPr>
      </p:sp>
      <p:sp>
        <p:nvSpPr>
          <p:cNvPr id="25" name="Text 22"/>
          <p:cNvSpPr/>
          <p:nvPr/>
        </p:nvSpPr>
        <p:spPr>
          <a:xfrm>
            <a:off x="4700662" y="3253904"/>
            <a:ext cx="3978176" cy="111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6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Quantify correlation between NPS and profitability</a:t>
            </a:r>
            <a:endParaRPr lang="en-US" sz="650" dirty="0"/>
          </a:p>
        </p:txBody>
      </p:sp>
      <p:sp>
        <p:nvSpPr>
          <p:cNvPr id="26" name="Shape 23"/>
          <p:cNvSpPr/>
          <p:nvPr/>
        </p:nvSpPr>
        <p:spPr>
          <a:xfrm>
            <a:off x="465162" y="3518818"/>
            <a:ext cx="43160" cy="43160"/>
          </a:xfrm>
          <a:prstGeom prst="roundRect">
            <a:avLst>
              <a:gd name="adj" fmla="val 662071"/>
            </a:avLst>
          </a:prstGeom>
          <a:solidFill>
            <a:srgbClr val="8C98CA"/>
          </a:solidFill>
          <a:ln/>
        </p:spPr>
      </p:sp>
      <p:sp>
        <p:nvSpPr>
          <p:cNvPr id="27" name="Text 24"/>
          <p:cNvSpPr/>
          <p:nvPr/>
        </p:nvSpPr>
        <p:spPr>
          <a:xfrm>
            <a:off x="560933" y="3471342"/>
            <a:ext cx="3978176" cy="111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6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Profile patient segments and satisfaction patterns</a:t>
            </a:r>
            <a:endParaRPr lang="en-US" sz="650" dirty="0"/>
          </a:p>
        </p:txBody>
      </p:sp>
      <p:sp>
        <p:nvSpPr>
          <p:cNvPr id="28" name="Shape 25"/>
          <p:cNvSpPr/>
          <p:nvPr/>
        </p:nvSpPr>
        <p:spPr>
          <a:xfrm>
            <a:off x="4604891" y="3518818"/>
            <a:ext cx="43160" cy="43160"/>
          </a:xfrm>
          <a:prstGeom prst="roundRect">
            <a:avLst>
              <a:gd name="adj" fmla="val 662071"/>
            </a:avLst>
          </a:prstGeom>
          <a:solidFill>
            <a:srgbClr val="8C98CA"/>
          </a:solidFill>
          <a:ln/>
        </p:spPr>
      </p:sp>
      <p:sp>
        <p:nvSpPr>
          <p:cNvPr id="29" name="Text 26"/>
          <p:cNvSpPr/>
          <p:nvPr/>
        </p:nvSpPr>
        <p:spPr>
          <a:xfrm>
            <a:off x="4700662" y="3471342"/>
            <a:ext cx="3978176" cy="111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6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Deliver interactive dashboards for decision-making</a:t>
            </a:r>
            <a:endParaRPr lang="en-US" sz="650" dirty="0"/>
          </a:p>
        </p:txBody>
      </p:sp>
      <p:sp>
        <p:nvSpPr>
          <p:cNvPr id="30" name="Text 27"/>
          <p:cNvSpPr/>
          <p:nvPr/>
        </p:nvSpPr>
        <p:spPr>
          <a:xfrm>
            <a:off x="465162" y="3662511"/>
            <a:ext cx="2910483" cy="215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Why We Selected This Project</a:t>
            </a:r>
            <a:endParaRPr lang="en-US" sz="1350" dirty="0"/>
          </a:p>
        </p:txBody>
      </p:sp>
      <p:sp>
        <p:nvSpPr>
          <p:cNvPr id="31" name="Text 28"/>
          <p:cNvSpPr/>
          <p:nvPr/>
        </p:nvSpPr>
        <p:spPr>
          <a:xfrm>
            <a:off x="465162" y="3957414"/>
            <a:ext cx="8670875" cy="111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6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Our team has extensive experience in customer satisfaction analytics and healthcare operations. This project is the best fit because:</a:t>
            </a:r>
            <a:endParaRPr lang="en-US" sz="650" dirty="0"/>
          </a:p>
        </p:txBody>
      </p:sp>
      <p:pic>
        <p:nvPicPr>
          <p:cNvPr id="32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7532" y="4131990"/>
            <a:ext cx="129555" cy="129555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745852" y="4127748"/>
            <a:ext cx="3793257" cy="111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6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Directly addresses critical business challenge (NPS decline)</a:t>
            </a:r>
            <a:endParaRPr lang="en-US" sz="650" dirty="0"/>
          </a:p>
        </p:txBody>
      </p:sp>
      <p:pic>
        <p:nvPicPr>
          <p:cNvPr id="34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37261" y="4131990"/>
            <a:ext cx="129555" cy="129555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4885581" y="4127748"/>
            <a:ext cx="3793257" cy="111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6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Combines operational and financial metrics</a:t>
            </a:r>
            <a:endParaRPr lang="en-US" sz="650" dirty="0"/>
          </a:p>
        </p:txBody>
      </p:sp>
      <p:pic>
        <p:nvPicPr>
          <p:cNvPr id="3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7532" y="4500637"/>
            <a:ext cx="129555" cy="129555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745852" y="4496395"/>
            <a:ext cx="3793257" cy="111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6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Requires comprehensive data pipeline (cleaning, modeling, visualization)</a:t>
            </a:r>
            <a:endParaRPr lang="en-US" sz="650" dirty="0"/>
          </a:p>
        </p:txBody>
      </p:sp>
      <p:pic>
        <p:nvPicPr>
          <p:cNvPr id="38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37261" y="4500637"/>
            <a:ext cx="129555" cy="129555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4885581" y="4496395"/>
            <a:ext cx="3793257" cy="111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6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Provides actionable insights for hospital management</a:t>
            </a:r>
            <a:endParaRPr lang="en-US" sz="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01478" y="363066"/>
            <a:ext cx="5512371" cy="373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3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What Happened? - Business Problem</a:t>
            </a:r>
            <a:endParaRPr lang="en-US" sz="2350" dirty="0"/>
          </a:p>
        </p:txBody>
      </p:sp>
      <p:sp>
        <p:nvSpPr>
          <p:cNvPr id="3" name="Text 1"/>
          <p:cNvSpPr/>
          <p:nvPr/>
        </p:nvSpPr>
        <p:spPr>
          <a:xfrm>
            <a:off x="418654" y="777180"/>
            <a:ext cx="2926631" cy="298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The Hospital Noticed:</a:t>
            </a:r>
            <a:endParaRPr lang="en-US" sz="1850" dirty="0"/>
          </a:p>
        </p:txBody>
      </p:sp>
      <p:sp>
        <p:nvSpPr>
          <p:cNvPr id="4" name="Shape 2"/>
          <p:cNvSpPr/>
          <p:nvPr/>
        </p:nvSpPr>
        <p:spPr>
          <a:xfrm>
            <a:off x="418654" y="1293279"/>
            <a:ext cx="59754" cy="59754"/>
          </a:xfrm>
          <a:prstGeom prst="roundRect">
            <a:avLst>
              <a:gd name="adj" fmla="val 478211"/>
            </a:avLst>
          </a:prstGeom>
          <a:solidFill>
            <a:srgbClr val="8C98CA"/>
          </a:solidFill>
          <a:ln/>
        </p:spPr>
      </p:sp>
      <p:sp>
        <p:nvSpPr>
          <p:cNvPr id="5" name="Text 3"/>
          <p:cNvSpPr/>
          <p:nvPr/>
        </p:nvSpPr>
        <p:spPr>
          <a:xfrm>
            <a:off x="579313" y="1227534"/>
            <a:ext cx="2524125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Customer satisfaction started declining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29570" y="1293279"/>
            <a:ext cx="59754" cy="59754"/>
          </a:xfrm>
          <a:prstGeom prst="roundRect">
            <a:avLst>
              <a:gd name="adj" fmla="val 478211"/>
            </a:avLst>
          </a:prstGeom>
          <a:solidFill>
            <a:srgbClr val="8C98CA"/>
          </a:solidFill>
          <a:ln/>
        </p:spPr>
      </p:sp>
      <p:sp>
        <p:nvSpPr>
          <p:cNvPr id="7" name="Text 5"/>
          <p:cNvSpPr/>
          <p:nvPr/>
        </p:nvSpPr>
        <p:spPr>
          <a:xfrm>
            <a:off x="3390230" y="1227534"/>
            <a:ext cx="2524125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Net Promoter Score (NPS) decreased in the second year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040487" y="1293279"/>
            <a:ext cx="59754" cy="59754"/>
          </a:xfrm>
          <a:prstGeom prst="roundRect">
            <a:avLst>
              <a:gd name="adj" fmla="val 478211"/>
            </a:avLst>
          </a:prstGeom>
          <a:solidFill>
            <a:srgbClr val="8C98CA"/>
          </a:solidFill>
          <a:ln/>
        </p:spPr>
      </p:sp>
      <p:sp>
        <p:nvSpPr>
          <p:cNvPr id="9" name="Text 7"/>
          <p:cNvSpPr/>
          <p:nvPr/>
        </p:nvSpPr>
        <p:spPr>
          <a:xfrm>
            <a:off x="6201147" y="1227534"/>
            <a:ext cx="2524125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Profitability also dropped with the decline in patient experience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8654" y="1731615"/>
            <a:ext cx="2849463" cy="298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Key Findings: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418654" y="2181969"/>
            <a:ext cx="8306693" cy="46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3000"/>
              </a:lnSpc>
              <a:spcAft>
                <a:spcPts val="850"/>
              </a:spcAft>
              <a:buNone/>
            </a:pPr>
            <a:r>
              <a:rPr lang="en-US" sz="9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Average NPS decreased from 44.12 in 2024 to 43.45 in 2025.</a:t>
            </a:r>
            <a:endParaRPr lang="en-US" sz="90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Total profit decreased from 10.25M to 10.17M.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8654" y="2821409"/>
            <a:ext cx="4090243" cy="394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1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1.5%</a:t>
            </a:r>
            <a:endParaRPr lang="en-US" sz="3100" dirty="0"/>
          </a:p>
        </p:txBody>
      </p:sp>
      <p:sp>
        <p:nvSpPr>
          <p:cNvPr id="13" name="Text 11"/>
          <p:cNvSpPr/>
          <p:nvPr/>
        </p:nvSpPr>
        <p:spPr>
          <a:xfrm>
            <a:off x="1716137" y="3351609"/>
            <a:ext cx="149520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Decline in NPS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18654" y="3598962"/>
            <a:ext cx="4090243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3000"/>
              </a:lnSpc>
              <a:buNone/>
            </a:pPr>
            <a:r>
              <a:rPr lang="en-US" sz="9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This represents a 1.5% decline in NPS.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635029" y="2821409"/>
            <a:ext cx="4090318" cy="394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1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0.8%</a:t>
            </a:r>
            <a:endParaRPr lang="en-US" sz="3100" dirty="0"/>
          </a:p>
        </p:txBody>
      </p:sp>
      <p:sp>
        <p:nvSpPr>
          <p:cNvPr id="16" name="Text 14"/>
          <p:cNvSpPr/>
          <p:nvPr/>
        </p:nvSpPr>
        <p:spPr>
          <a:xfrm>
            <a:off x="5932587" y="3351609"/>
            <a:ext cx="149520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Decline in Profit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635029" y="3598962"/>
            <a:ext cx="4090318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3000"/>
              </a:lnSpc>
              <a:buNone/>
            </a:pPr>
            <a:r>
              <a:rPr lang="en-US" sz="9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This represents a 0.8% decline in profit.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18654" y="3926681"/>
            <a:ext cx="2849463" cy="298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Business Insight:</a:t>
            </a:r>
            <a:endParaRPr lang="en-US" sz="1850" dirty="0"/>
          </a:p>
        </p:txBody>
      </p:sp>
      <p:sp>
        <p:nvSpPr>
          <p:cNvPr id="19" name="Text 17"/>
          <p:cNvSpPr/>
          <p:nvPr/>
        </p:nvSpPr>
        <p:spPr>
          <a:xfrm>
            <a:off x="598066" y="4490517"/>
            <a:ext cx="8545934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The data suggests that declining patient experience directly impacted hospital profitability.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18654" y="4377035"/>
            <a:ext cx="14288" cy="403324"/>
          </a:xfrm>
          <a:prstGeom prst="rect">
            <a:avLst/>
          </a:prstGeom>
          <a:solidFill>
            <a:srgbClr val="8C98CA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8846" y="750243"/>
            <a:ext cx="737763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Why Did It Happen? - Root Cause Analysis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476747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We discovered several operational factors strongly connected with lower NPS.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96119" y="2004789"/>
            <a:ext cx="3902943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Strong Negative Drivers (Factors that REDUCE NPS):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96119" y="2589461"/>
            <a:ext cx="3902943" cy="935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Waiting Time: Strong Negative Correlation (-0.75)</a:t>
            </a:r>
            <a:endParaRPr lang="en-US" sz="1100" dirty="0"/>
          </a:p>
          <a:p>
            <a:pPr marL="0" indent="0" algn="l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Appointment Delay: Negative Correlation (-0.55)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Complaint Count: Negative Correlation (-0.33)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49701" y="2004789"/>
            <a:ext cx="3902943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Strong Positive Drivers (Factors that INCREASE NPS):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749701" y="2589461"/>
            <a:ext cx="3902943" cy="1289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Service Rating: Strong Positive Correlation (+0.79)</a:t>
            </a:r>
            <a:endParaRPr lang="en-US" sz="1100" dirty="0"/>
          </a:p>
          <a:p>
            <a:pPr marL="0" indent="0" algn="l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Doctor Rating: Positive Correlation (+0.59)</a:t>
            </a:r>
            <a:endParaRPr lang="en-US" sz="1100" dirty="0"/>
          </a:p>
          <a:p>
            <a:pPr marL="0" indent="0" algn="l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Staff Rating: Positive Correlation (+0.49)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Cleanliness Rating: Positive Correlation (+0.32)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96119" y="4166369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      </a:t>
            </a:r>
            <a:r>
              <a:rPr lang="en-US" sz="110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Main Insight:</a:t>
            </a: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The strongest factor affecting NPS was service quality and waiting experience.     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37954" y="194890"/>
            <a:ext cx="403949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When Did It Happen? - NPS Trend Over Time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248022" y="430485"/>
            <a:ext cx="1874862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Trend Analysis: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48022" y="660797"/>
            <a:ext cx="8647956" cy="474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NPS performance declined during 2025 compared to 2024</a:t>
            </a:r>
            <a:endParaRPr lang="en-US" sz="550" dirty="0"/>
          </a:p>
          <a:p>
            <a:pPr marL="342900" indent="-342900" algn="l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The decline aligned with:         </a:t>
            </a:r>
            <a:endParaRPr lang="en-US" sz="550" dirty="0"/>
          </a:p>
          <a:p>
            <a:pPr marL="685800" lvl="1" indent="-342900" algn="l">
              <a:lnSpc>
                <a:spcPct val="100000"/>
              </a:lnSpc>
              <a:buSzPct val="100000"/>
              <a:buChar char="◦"/>
            </a:pPr>
            <a:r>
              <a:rPr lang="en-US" sz="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Increased waiting times</a:t>
            </a:r>
            <a:endParaRPr lang="en-US" sz="550" dirty="0"/>
          </a:p>
          <a:p>
            <a:pPr marL="685800" lvl="1" indent="-342900" algn="l">
              <a:lnSpc>
                <a:spcPct val="100000"/>
              </a:lnSpc>
              <a:buSzPct val="100000"/>
              <a:buChar char="◦"/>
            </a:pPr>
            <a:r>
              <a:rPr lang="en-US" sz="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Higher appointment delays</a:t>
            </a:r>
            <a:endParaRPr lang="en-US" sz="550" dirty="0"/>
          </a:p>
          <a:p>
            <a:pPr marL="685800" lvl="1" indent="-342900" algn="l">
              <a:lnSpc>
                <a:spcPct val="100000"/>
              </a:lnSpc>
              <a:buSzPct val="100000"/>
              <a:buChar char="◦"/>
            </a:pPr>
            <a:r>
              <a:rPr lang="en-US" sz="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More operational pressure on services</a:t>
            </a:r>
            <a:endParaRPr lang="en-US" sz="550" dirty="0"/>
          </a:p>
        </p:txBody>
      </p:sp>
      <p:sp>
        <p:nvSpPr>
          <p:cNvPr id="5" name="Text 3"/>
          <p:cNvSpPr/>
          <p:nvPr/>
        </p:nvSpPr>
        <p:spPr>
          <a:xfrm>
            <a:off x="248022" y="1188616"/>
            <a:ext cx="209073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Business Interpretation: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48022" y="1418927"/>
            <a:ext cx="8895978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Operational inefficiencies increased over time, reducing patient satisfaction and affecting profitability.</a:t>
            </a:r>
            <a:endParaRPr lang="en-US" sz="5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022" y="1543794"/>
            <a:ext cx="8647956" cy="484279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48022" y="6426398"/>
            <a:ext cx="8895978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The line chart illustrates the monthly Net Promoter Score trend from January 2024 to December 2025, clearly showing a decline in NPS, particularly during the latter half of 2025.</a:t>
            </a:r>
            <a:endParaRPr lang="en-US" sz="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65958" y="194890"/>
            <a:ext cx="478341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Where Did It Happen? - Branch Performance Analysis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248022" y="430485"/>
            <a:ext cx="2975521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Lowest Performing Branches by NPS: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48022" y="660797"/>
            <a:ext cx="8647956" cy="334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Central: 43.15</a:t>
            </a:r>
            <a:endParaRPr lang="en-US" sz="550" dirty="0"/>
          </a:p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North: 43.27</a:t>
            </a:r>
            <a:endParaRPr lang="en-US" sz="5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West: 43.83</a:t>
            </a:r>
            <a:endParaRPr lang="en-US" sz="550" dirty="0"/>
          </a:p>
        </p:txBody>
      </p:sp>
      <p:sp>
        <p:nvSpPr>
          <p:cNvPr id="5" name="Text 3"/>
          <p:cNvSpPr/>
          <p:nvPr/>
        </p:nvSpPr>
        <p:spPr>
          <a:xfrm>
            <a:off x="248022" y="1048717"/>
            <a:ext cx="2506563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Highest Performing Branches: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48022" y="1279029"/>
            <a:ext cx="8647956" cy="209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South: 45.05</a:t>
            </a:r>
            <a:endParaRPr lang="en-US" sz="5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East: 43.89</a:t>
            </a:r>
            <a:endParaRPr lang="en-US" sz="5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022" y="1528763"/>
            <a:ext cx="8647956" cy="484279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48022" y="6411367"/>
            <a:ext cx="8895978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      </a:t>
            </a:r>
            <a:r>
              <a:rPr lang="en-US" sz="55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Key Insight:</a:t>
            </a:r>
            <a:r>
              <a:rPr lang="en-US" sz="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Branch performance differences suggest that operational quality and patient experience vary significantly by location.     </a:t>
            </a:r>
            <a:endParaRPr lang="en-US" sz="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88597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57352" y="1087413"/>
            <a:ext cx="20006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Project Summary</a:t>
            </a:r>
            <a:endParaRPr lang="en-US" sz="1350" dirty="0"/>
          </a:p>
        </p:txBody>
      </p:sp>
      <p:sp>
        <p:nvSpPr>
          <p:cNvPr id="4" name="Text 1"/>
          <p:cNvSpPr/>
          <p:nvPr/>
        </p:nvSpPr>
        <p:spPr>
          <a:xfrm>
            <a:off x="248022" y="1323008"/>
            <a:ext cx="1874862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Data Cleaning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248022" y="1553319"/>
            <a:ext cx="8647956" cy="3772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Fixed data types (converted dates, standardized numeric formats)</a:t>
            </a:r>
            <a:endParaRPr lang="en-US" sz="550" dirty="0"/>
          </a:p>
          <a:p>
            <a:pPr marL="342900" indent="-342900" algn="l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Standardization (strip(), title() applied to categorical columns)</a:t>
            </a:r>
            <a:endParaRPr lang="en-US" sz="550" dirty="0"/>
          </a:p>
          <a:p>
            <a:pPr marL="342900" indent="-342900" algn="l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Removed duplicates (kept most recent visit per patient)</a:t>
            </a:r>
            <a:endParaRPr lang="en-US" sz="550" dirty="0"/>
          </a:p>
          <a:p>
            <a:pPr marL="342900" indent="-342900" algn="l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Handled missing data (imputed with median/mode)</a:t>
            </a:r>
            <a:endParaRPr lang="en-US" sz="550" dirty="0"/>
          </a:p>
        </p:txBody>
      </p:sp>
      <p:sp>
        <p:nvSpPr>
          <p:cNvPr id="6" name="Text 3"/>
          <p:cNvSpPr/>
          <p:nvPr/>
        </p:nvSpPr>
        <p:spPr>
          <a:xfrm>
            <a:off x="248022" y="1983730"/>
            <a:ext cx="1874862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Outlier Treatment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248022" y="2214042"/>
            <a:ext cx="8647956" cy="279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Applied IQR capping method</a:t>
            </a:r>
            <a:endParaRPr lang="en-US" sz="550" dirty="0"/>
          </a:p>
          <a:p>
            <a:pPr marL="342900" indent="-342900" algn="l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Capped 87 NPS outliers, 322 lifetime value outliers, 39 waiting time outliers, etc.</a:t>
            </a:r>
            <a:endParaRPr lang="en-US" sz="550" dirty="0"/>
          </a:p>
          <a:p>
            <a:pPr marL="342900" indent="-342900" algn="l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Preserved original values in backup</a:t>
            </a:r>
            <a:endParaRPr lang="en-US" sz="550" dirty="0"/>
          </a:p>
        </p:txBody>
      </p:sp>
      <p:sp>
        <p:nvSpPr>
          <p:cNvPr id="8" name="Text 5"/>
          <p:cNvSpPr/>
          <p:nvPr/>
        </p:nvSpPr>
        <p:spPr>
          <a:xfrm>
            <a:off x="248022" y="2547045"/>
            <a:ext cx="1874862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Feature Engineering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48022" y="2777356"/>
            <a:ext cx="8647956" cy="3772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Created Age Band categories (Children, Teens, Young Adults, Middle-Aged, Seniors)</a:t>
            </a:r>
            <a:endParaRPr lang="en-US" sz="550" dirty="0"/>
          </a:p>
          <a:p>
            <a:pPr marL="342900" indent="-342900" algn="l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Derived temporal features from Survey Date (Year, Month, Quarter)</a:t>
            </a:r>
            <a:endParaRPr lang="en-US" sz="550" dirty="0"/>
          </a:p>
          <a:p>
            <a:pPr marL="342900" indent="-342900" algn="l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Created NPS_Category (Promoter/Passive/Detractor)</a:t>
            </a:r>
            <a:endParaRPr lang="en-US" sz="550" dirty="0"/>
          </a:p>
          <a:p>
            <a:pPr marL="342900" indent="-342900" algn="l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Calculated Overall_Rating composite metric</a:t>
            </a:r>
            <a:endParaRPr lang="en-US" sz="550" dirty="0"/>
          </a:p>
        </p:txBody>
      </p:sp>
      <p:sp>
        <p:nvSpPr>
          <p:cNvPr id="10" name="Text 7"/>
          <p:cNvSpPr/>
          <p:nvPr/>
        </p:nvSpPr>
        <p:spPr>
          <a:xfrm>
            <a:off x="248022" y="3207767"/>
            <a:ext cx="1880220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Descriptive Statistics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248022" y="3438079"/>
            <a:ext cx="8647956" cy="279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Computed mean, std dev, min, median, max for all numeric variables</a:t>
            </a:r>
            <a:endParaRPr lang="en-US" sz="550" dirty="0"/>
          </a:p>
          <a:p>
            <a:pPr marL="342900" indent="-342900" algn="l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Analyzed skewness and kurtosis</a:t>
            </a:r>
            <a:endParaRPr lang="en-US" sz="550" dirty="0"/>
          </a:p>
          <a:p>
            <a:pPr marL="342900" indent="-342900" algn="l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Categorical summaries for all text fields</a:t>
            </a:r>
            <a:endParaRPr lang="en-US" sz="550" dirty="0"/>
          </a:p>
        </p:txBody>
      </p:sp>
      <p:sp>
        <p:nvSpPr>
          <p:cNvPr id="12" name="Text 9"/>
          <p:cNvSpPr/>
          <p:nvPr/>
        </p:nvSpPr>
        <p:spPr>
          <a:xfrm>
            <a:off x="248022" y="3771081"/>
            <a:ext cx="1874862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Data Modeling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248022" y="4001393"/>
            <a:ext cx="8647956" cy="279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Built Star Schema with 5 Dimension tables and 1 Fact table</a:t>
            </a:r>
            <a:endParaRPr lang="en-US" sz="550" dirty="0"/>
          </a:p>
          <a:p>
            <a:pPr marL="342900" indent="-342900" algn="l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Dimension tables: Patient, Visit, Department, Hospital Branch, Service, Date</a:t>
            </a:r>
            <a:endParaRPr lang="en-US" sz="550" dirty="0"/>
          </a:p>
          <a:p>
            <a:pPr marL="342900" indent="-342900" algn="l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Fact table: Healthcare transactions with all KPIs</a:t>
            </a:r>
            <a:endParaRPr lang="en-US" sz="550" dirty="0"/>
          </a:p>
        </p:txBody>
      </p:sp>
      <p:sp>
        <p:nvSpPr>
          <p:cNvPr id="14" name="Text 11"/>
          <p:cNvSpPr/>
          <p:nvPr/>
        </p:nvSpPr>
        <p:spPr>
          <a:xfrm>
            <a:off x="248022" y="4334396"/>
            <a:ext cx="1874862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Dashboards Created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248022" y="4564707"/>
            <a:ext cx="8647956" cy="3772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Excel: 3 interactive dashboards with filters</a:t>
            </a:r>
            <a:endParaRPr lang="en-US" sz="550" dirty="0"/>
          </a:p>
          <a:p>
            <a:pPr marL="342900" indent="-342900" algn="l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Power BI: 3 dashboard pages (Satisfaction, Drivers, Performance)</a:t>
            </a:r>
            <a:endParaRPr lang="en-US" sz="550" dirty="0"/>
          </a:p>
          <a:p>
            <a:pPr marL="342900" indent="-342900" algn="l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Tableau: 3 views with drill-down capabilities</a:t>
            </a:r>
            <a:endParaRPr lang="en-US" sz="550" dirty="0"/>
          </a:p>
          <a:p>
            <a:pPr marL="342900" indent="-342900" algn="l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Python: 3 visualization dashboards</a:t>
            </a:r>
            <a:endParaRPr lang="en-US" sz="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4298" y="363885"/>
            <a:ext cx="6806729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Excel: Data Modeling &amp; Descriptive Statistics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34132" y="794817"/>
            <a:ext cx="4872558" cy="310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Descriptive Statistics Summary Table</a:t>
            </a:r>
            <a:endParaRPr lang="en-US" sz="1950" dirty="0"/>
          </a:p>
        </p:txBody>
      </p:sp>
      <p:sp>
        <p:nvSpPr>
          <p:cNvPr id="4" name="Shape 2"/>
          <p:cNvSpPr/>
          <p:nvPr/>
        </p:nvSpPr>
        <p:spPr>
          <a:xfrm>
            <a:off x="434132" y="1267644"/>
            <a:ext cx="8275737" cy="1988046"/>
          </a:xfrm>
          <a:prstGeom prst="roundRect">
            <a:avLst>
              <a:gd name="adj" fmla="val 2621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3166" y="1342281"/>
            <a:ext cx="1584796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Metric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943472" y="1342281"/>
            <a:ext cx="1582415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Mean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321397" y="1342281"/>
            <a:ext cx="1582415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Std Dev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699322" y="1342281"/>
            <a:ext cx="1582415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Min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077248" y="1342281"/>
            <a:ext cx="1582415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Median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455173" y="1342281"/>
            <a:ext cx="1584796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Max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63166" y="1672828"/>
            <a:ext cx="1584796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Age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943472" y="1672828"/>
            <a:ext cx="1582415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37.45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321397" y="1672828"/>
            <a:ext cx="1582415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21.18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99322" y="1672828"/>
            <a:ext cx="1582415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0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077248" y="1672828"/>
            <a:ext cx="1582415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37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455173" y="1672828"/>
            <a:ext cx="1584796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90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63166" y="2003375"/>
            <a:ext cx="1584796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Waiting Time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943472" y="2003375"/>
            <a:ext cx="1582415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35.25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321397" y="2003375"/>
            <a:ext cx="1582415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14.63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699322" y="2003375"/>
            <a:ext cx="1582415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5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077248" y="2003375"/>
            <a:ext cx="1582415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35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455173" y="2003375"/>
            <a:ext cx="1584796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75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63166" y="2333923"/>
            <a:ext cx="1584796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NPS Score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943472" y="2333923"/>
            <a:ext cx="1582415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43.87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321397" y="2333923"/>
            <a:ext cx="1582415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23.40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699322" y="2333923"/>
            <a:ext cx="1582415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-19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077248" y="2333923"/>
            <a:ext cx="1582415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46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455173" y="2333923"/>
            <a:ext cx="1584796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100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63166" y="2664470"/>
            <a:ext cx="1584796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Doctor Rating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943472" y="2664470"/>
            <a:ext cx="1582415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4.53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321397" y="2664470"/>
            <a:ext cx="1582415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0.56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699322" y="2664470"/>
            <a:ext cx="1582415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2.5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077248" y="2664470"/>
            <a:ext cx="1582415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5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7455173" y="2664470"/>
            <a:ext cx="1584796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5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63166" y="2995017"/>
            <a:ext cx="1584796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Treatment Cost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943472" y="2995017"/>
            <a:ext cx="1582415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4424.80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3321397" y="2995017"/>
            <a:ext cx="1582415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1535.81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699322" y="2995017"/>
            <a:ext cx="1582415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1168.23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077248" y="2995017"/>
            <a:ext cx="1582415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4301.72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7455173" y="2995017"/>
            <a:ext cx="1584796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8992.58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34132" y="3418433"/>
            <a:ext cx="2938090" cy="310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Excel Dashboards</a:t>
            </a:r>
            <a:endParaRPr lang="en-US" sz="1950" dirty="0"/>
          </a:p>
        </p:txBody>
      </p:sp>
      <p:sp>
        <p:nvSpPr>
          <p:cNvPr id="42" name="Text 40"/>
          <p:cNvSpPr/>
          <p:nvPr/>
        </p:nvSpPr>
        <p:spPr>
          <a:xfrm>
            <a:off x="434132" y="3999756"/>
            <a:ext cx="292127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Dashboard 1: Satisfaction Metrics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34132" y="4302100"/>
            <a:ext cx="3013770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[Space Reserved for Upload]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3298031" y="3999756"/>
            <a:ext cx="295118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Dashboard 2: Operational Drivers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3298031" y="4302100"/>
            <a:ext cx="3013770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[Space Reserved for Upload]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161931" y="3999756"/>
            <a:ext cx="2556570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Dashboard 3: Performance Analysis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161931" y="4495949"/>
            <a:ext cx="2982069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[Space Reserved for Upload]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6E1E5CB-D5B8-4C01-C527-F3080270DF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05847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71A4F97-0395-08D8-E6CC-C6CD582723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733"/>
            <a:ext cx="9144000" cy="5075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6105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89E091D-4003-602F-CD91-90EB256C41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5147"/>
            <a:ext cx="9144000" cy="5028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9830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75880" y="366489"/>
            <a:ext cx="3163565" cy="366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SQL: Key Steps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10840" y="772195"/>
            <a:ext cx="5132487" cy="2934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Key Data Cleaning &amp; Preprocessing Steps: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10840" y="1211387"/>
            <a:ext cx="234776" cy="1467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EBECEF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10840" y="1396603"/>
            <a:ext cx="2709267" cy="14288"/>
          </a:xfrm>
          <a:prstGeom prst="rect">
            <a:avLst/>
          </a:prstGeom>
          <a:solidFill>
            <a:srgbClr val="8C98CA"/>
          </a:solidFill>
          <a:ln/>
        </p:spPr>
      </p:sp>
      <p:sp>
        <p:nvSpPr>
          <p:cNvPr id="6" name="Text 4"/>
          <p:cNvSpPr/>
          <p:nvPr/>
        </p:nvSpPr>
        <p:spPr>
          <a:xfrm>
            <a:off x="410840" y="1483816"/>
            <a:ext cx="2113359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Type Fixing &amp; Standardization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10840" y="1725513"/>
            <a:ext cx="2709267" cy="1475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2000"/>
              </a:lnSpc>
              <a:buSzPct val="100000"/>
              <a:buChar char="•"/>
            </a:pPr>
            <a:r>
              <a:rPr lang="en-US" sz="9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Converted Survey_Date from Excel serial to datetime</a:t>
            </a:r>
            <a:endParaRPr lang="en-US" sz="900" dirty="0"/>
          </a:p>
          <a:p>
            <a:pPr marL="342900" indent="-342900" algn="l">
              <a:lnSpc>
                <a:spcPct val="122000"/>
              </a:lnSpc>
              <a:buSzPct val="100000"/>
              <a:buChar char="•"/>
            </a:pPr>
            <a:r>
              <a:rPr lang="en-US" sz="9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Cast numeric columns to correct float/int types</a:t>
            </a:r>
            <a:endParaRPr lang="en-US" sz="900" dirty="0"/>
          </a:p>
          <a:p>
            <a:pPr marL="342900" indent="-342900" algn="l">
              <a:lnSpc>
                <a:spcPct val="122000"/>
              </a:lnSpc>
              <a:buSzPct val="100000"/>
              <a:buChar char="•"/>
            </a:pPr>
            <a:r>
              <a:rPr lang="en-US" sz="9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Applied strip(), title(), lower() to categorical columns</a:t>
            </a:r>
            <a:endParaRPr lang="en-US" sz="900" dirty="0"/>
          </a:p>
          <a:p>
            <a:pPr marL="342900" indent="-342900" algn="l">
              <a:lnSpc>
                <a:spcPct val="122000"/>
              </a:lnSpc>
              <a:buSzPct val="100000"/>
              <a:buChar char="•"/>
            </a:pPr>
            <a:r>
              <a:rPr lang="en-US" sz="9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Standardized Hospital_Branch, Insurance_Type, Gender, Service_Shift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17292" y="1211387"/>
            <a:ext cx="234776" cy="1467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EBECEF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17292" y="1396603"/>
            <a:ext cx="2709342" cy="14288"/>
          </a:xfrm>
          <a:prstGeom prst="rect">
            <a:avLst/>
          </a:prstGeom>
          <a:solidFill>
            <a:srgbClr val="8C98CA"/>
          </a:solidFill>
          <a:ln/>
        </p:spPr>
      </p:sp>
      <p:sp>
        <p:nvSpPr>
          <p:cNvPr id="10" name="Text 8"/>
          <p:cNvSpPr/>
          <p:nvPr/>
        </p:nvSpPr>
        <p:spPr>
          <a:xfrm>
            <a:off x="3217292" y="1483816"/>
            <a:ext cx="1467445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Deduplication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217292" y="1725513"/>
            <a:ext cx="2709342" cy="960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2000"/>
              </a:lnSpc>
              <a:buSzPct val="100000"/>
              <a:buChar char="•"/>
            </a:pPr>
            <a:r>
              <a:rPr lang="en-US" sz="9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Sorted by Survey_Date descending</a:t>
            </a:r>
            <a:endParaRPr lang="en-US" sz="900" dirty="0"/>
          </a:p>
          <a:p>
            <a:pPr marL="342900" indent="-342900" algn="l">
              <a:lnSpc>
                <a:spcPct val="122000"/>
              </a:lnSpc>
              <a:buSzPct val="100000"/>
              <a:buChar char="•"/>
            </a:pPr>
            <a:r>
              <a:rPr lang="en-US" sz="9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Dropped duplicate Patient_ID entries (kept most recent)</a:t>
            </a:r>
            <a:endParaRPr lang="en-US" sz="900" dirty="0"/>
          </a:p>
          <a:p>
            <a:pPr marL="342900" indent="-342900" algn="l">
              <a:lnSpc>
                <a:spcPct val="122000"/>
              </a:lnSpc>
              <a:buSzPct val="100000"/>
              <a:buChar char="•"/>
            </a:pPr>
            <a:r>
              <a:rPr lang="en-US" sz="9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Removed entirely identical rows</a:t>
            </a:r>
            <a:endParaRPr lang="en-US" sz="900" dirty="0"/>
          </a:p>
          <a:p>
            <a:pPr marL="342900" indent="-342900" algn="l">
              <a:lnSpc>
                <a:spcPct val="122000"/>
              </a:lnSpc>
              <a:buSzPct val="100000"/>
              <a:buChar char="•"/>
            </a:pPr>
            <a:r>
              <a:rPr lang="en-US" sz="9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Validated row count before/after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023818" y="1211387"/>
            <a:ext cx="234776" cy="1467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EBECEF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03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023818" y="1396603"/>
            <a:ext cx="2709342" cy="14288"/>
          </a:xfrm>
          <a:prstGeom prst="rect">
            <a:avLst/>
          </a:prstGeom>
          <a:solidFill>
            <a:srgbClr val="8C98CA"/>
          </a:solidFill>
          <a:ln/>
        </p:spPr>
      </p:sp>
      <p:sp>
        <p:nvSpPr>
          <p:cNvPr id="14" name="Text 12"/>
          <p:cNvSpPr/>
          <p:nvPr/>
        </p:nvSpPr>
        <p:spPr>
          <a:xfrm>
            <a:off x="6023818" y="1483816"/>
            <a:ext cx="1788914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Missing Value Imputation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023818" y="1725513"/>
            <a:ext cx="2709342" cy="754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2000"/>
              </a:lnSpc>
              <a:buSzPct val="100000"/>
              <a:buChar char="•"/>
            </a:pPr>
            <a:r>
              <a:rPr lang="en-US" sz="9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Imputed numeric values with column median</a:t>
            </a:r>
            <a:endParaRPr lang="en-US" sz="900" dirty="0"/>
          </a:p>
          <a:p>
            <a:pPr marL="342900" indent="-342900" algn="l">
              <a:lnSpc>
                <a:spcPct val="122000"/>
              </a:lnSpc>
              <a:buSzPct val="100000"/>
              <a:buChar char="•"/>
            </a:pPr>
            <a:r>
              <a:rPr lang="en-US" sz="9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Imputed categorical values with mode</a:t>
            </a:r>
            <a:endParaRPr lang="en-US" sz="900" dirty="0"/>
          </a:p>
          <a:p>
            <a:pPr marL="342900" indent="-342900" algn="l">
              <a:lnSpc>
                <a:spcPct val="122000"/>
              </a:lnSpc>
              <a:buSzPct val="100000"/>
              <a:buChar char="•"/>
            </a:pPr>
            <a:r>
              <a:rPr lang="en-US" sz="9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Preserved distribution shape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10840" y="3386138"/>
            <a:ext cx="234776" cy="1467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EBECEF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04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10840" y="3571354"/>
            <a:ext cx="4112568" cy="14288"/>
          </a:xfrm>
          <a:prstGeom prst="rect">
            <a:avLst/>
          </a:prstGeom>
          <a:solidFill>
            <a:srgbClr val="8C98CA"/>
          </a:solidFill>
          <a:ln/>
        </p:spPr>
      </p:sp>
      <p:sp>
        <p:nvSpPr>
          <p:cNvPr id="18" name="Text 16"/>
          <p:cNvSpPr/>
          <p:nvPr/>
        </p:nvSpPr>
        <p:spPr>
          <a:xfrm>
            <a:off x="410840" y="3658567"/>
            <a:ext cx="2309961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Outlier Treatment (IQR Capping)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10840" y="3900264"/>
            <a:ext cx="4112568" cy="583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2000"/>
              </a:lnSpc>
              <a:buSzPct val="100000"/>
              <a:buChar char="•"/>
            </a:pPr>
            <a:r>
              <a:rPr lang="en-US" sz="9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Applied IQR method to identify outliers</a:t>
            </a:r>
            <a:endParaRPr lang="en-US" sz="900" dirty="0"/>
          </a:p>
          <a:p>
            <a:pPr marL="342900" indent="-342900" algn="l">
              <a:lnSpc>
                <a:spcPct val="122000"/>
              </a:lnSpc>
              <a:buSzPct val="100000"/>
              <a:buChar char="•"/>
            </a:pPr>
            <a:r>
              <a:rPr lang="en-US" sz="9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Capped values outside [Q1 - 1.5×IQR, Q3 + 1.5×IQR]</a:t>
            </a:r>
            <a:endParaRPr lang="en-US" sz="900" dirty="0"/>
          </a:p>
          <a:p>
            <a:pPr marL="342900" indent="-342900" algn="l">
              <a:lnSpc>
                <a:spcPct val="122000"/>
              </a:lnSpc>
              <a:buSzPct val="100000"/>
              <a:buChar char="•"/>
            </a:pPr>
            <a:r>
              <a:rPr lang="en-US" sz="9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Documented outlier counts per column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620592" y="3386138"/>
            <a:ext cx="234776" cy="1467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EBECEF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05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620592" y="3571354"/>
            <a:ext cx="4112568" cy="14288"/>
          </a:xfrm>
          <a:prstGeom prst="rect">
            <a:avLst/>
          </a:prstGeom>
          <a:solidFill>
            <a:srgbClr val="8C98CA"/>
          </a:solidFill>
          <a:ln/>
        </p:spPr>
      </p:sp>
      <p:sp>
        <p:nvSpPr>
          <p:cNvPr id="22" name="Text 20"/>
          <p:cNvSpPr/>
          <p:nvPr/>
        </p:nvSpPr>
        <p:spPr>
          <a:xfrm>
            <a:off x="4620592" y="3658567"/>
            <a:ext cx="1467445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Feature Engineering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620592" y="3900264"/>
            <a:ext cx="4112568" cy="7887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2000"/>
              </a:lnSpc>
              <a:buSzPct val="100000"/>
              <a:buChar char="•"/>
            </a:pPr>
            <a:r>
              <a:rPr lang="en-US" sz="9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Extracted Year, Month, Quarter from Survey_Date</a:t>
            </a:r>
            <a:endParaRPr lang="en-US" sz="900" dirty="0"/>
          </a:p>
          <a:p>
            <a:pPr marL="342900" indent="-342900" algn="l">
              <a:lnSpc>
                <a:spcPct val="122000"/>
              </a:lnSpc>
              <a:buSzPct val="100000"/>
              <a:buChar char="•"/>
            </a:pPr>
            <a:r>
              <a:rPr lang="en-US" sz="9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Created NPS_Category (Promoter/Passive/Detractor)</a:t>
            </a:r>
            <a:endParaRPr lang="en-US" sz="900" dirty="0"/>
          </a:p>
          <a:p>
            <a:pPr marL="342900" indent="-342900" algn="l">
              <a:lnSpc>
                <a:spcPct val="122000"/>
              </a:lnSpc>
              <a:buSzPct val="100000"/>
              <a:buChar char="•"/>
            </a:pPr>
            <a:r>
              <a:rPr lang="en-US" sz="9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Derived Age_Group categories</a:t>
            </a:r>
            <a:endParaRPr lang="en-US" sz="900" dirty="0"/>
          </a:p>
          <a:p>
            <a:pPr marL="342900" indent="-342900" algn="l">
              <a:lnSpc>
                <a:spcPct val="122000"/>
              </a:lnSpc>
              <a:buSzPct val="100000"/>
              <a:buChar char="•"/>
            </a:pPr>
            <a:r>
              <a:rPr lang="en-US" sz="9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Calculated Overall_Rating composite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93641" y="194890"/>
            <a:ext cx="232811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SQL: Star Schema &amp; ERD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248022" y="487189"/>
            <a:ext cx="8647956" cy="209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The ERD illustrates the normalized star schema with 1 Fact table and 5 Dimension tables.</a:t>
            </a:r>
            <a:endParaRPr lang="en-US" sz="5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Here are the details of the tables: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248022" y="750243"/>
            <a:ext cx="2261146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Fact Table: fact_healthcare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48022" y="980554"/>
            <a:ext cx="8647956" cy="7669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Fact_ID (Primary Key)</a:t>
            </a:r>
            <a:endParaRPr lang="en-US" sz="550" dirty="0"/>
          </a:p>
          <a:p>
            <a:pPr marL="342900" indent="-342900" algn="l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Patient_ID (Foreign Key)</a:t>
            </a:r>
            <a:endParaRPr lang="en-US" sz="550" dirty="0"/>
          </a:p>
          <a:p>
            <a:pPr marL="342900" indent="-342900" algn="l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Branch_Key (Foreign Key)</a:t>
            </a:r>
            <a:endParaRPr lang="en-US" sz="550" dirty="0"/>
          </a:p>
          <a:p>
            <a:pPr marL="342900" indent="-342900" algn="l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Department_Key (Foreign Key)</a:t>
            </a:r>
            <a:endParaRPr lang="en-US" sz="550" dirty="0"/>
          </a:p>
          <a:p>
            <a:pPr marL="342900" indent="-342900" algn="l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Date_Key (Foreign Key)</a:t>
            </a:r>
            <a:endParaRPr lang="en-US" sz="550" dirty="0"/>
          </a:p>
          <a:p>
            <a:pPr marL="342900" indent="-342900" algn="l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Service_Key (Foreign Key)</a:t>
            </a:r>
            <a:endParaRPr lang="en-US" sz="550" dirty="0"/>
          </a:p>
          <a:p>
            <a:pPr marL="342900" indent="-342900" algn="l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Visit_Key (Foreign Key)</a:t>
            </a:r>
            <a:endParaRPr lang="en-US" sz="550" dirty="0"/>
          </a:p>
          <a:p>
            <a:pPr marL="342900" indent="-342900" algn="l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Key metrics: NPS_Score, Waiting_Time_Minutes, Doctor_Rating, Service_Rating, Staff_Rating, Cleanliness_Rating, Treatment_Cost_USD, Complaint_Count, profit_per_patient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248022" y="1800597"/>
            <a:ext cx="1874862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Dimension Tables: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48022" y="2030909"/>
            <a:ext cx="8647956" cy="572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00000"/>
              </a:lnSpc>
              <a:buSzPct val="100000"/>
              <a:buFont typeface="+mj-lt"/>
              <a:buAutoNum type="arabicPeriod"/>
            </a:pPr>
            <a:r>
              <a:rPr lang="en-US" sz="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dim_patient: Patient_ID, Gender, Age, patient_segment, profit_per_patient, lifetime_value_patient</a:t>
            </a:r>
            <a:endParaRPr lang="en-US" sz="550" dirty="0"/>
          </a:p>
          <a:p>
            <a:pPr marL="342900" indent="-342900" algn="l">
              <a:lnSpc>
                <a:spcPct val="100000"/>
              </a:lnSpc>
              <a:buSzPct val="100000"/>
              <a:buFont typeface="+mj-lt"/>
              <a:buAutoNum type="arabicPeriod" startAt="2"/>
            </a:pPr>
            <a:r>
              <a:rPr lang="en-US" sz="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dim_hospital: Branch_Key, Hospital_Branch</a:t>
            </a:r>
            <a:endParaRPr lang="en-US" sz="550" dirty="0"/>
          </a:p>
          <a:p>
            <a:pPr marL="342900" indent="-342900" algn="l">
              <a:lnSpc>
                <a:spcPct val="100000"/>
              </a:lnSpc>
              <a:buSzPct val="100000"/>
              <a:buFont typeface="+mj-lt"/>
              <a:buAutoNum type="arabicPeriod" startAt="3"/>
            </a:pPr>
            <a:r>
              <a:rPr lang="en-US" sz="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dim_department: Department_Key, Department</a:t>
            </a:r>
            <a:endParaRPr lang="en-US" sz="550" dirty="0"/>
          </a:p>
          <a:p>
            <a:pPr marL="342900" indent="-342900" algn="l">
              <a:lnSpc>
                <a:spcPct val="100000"/>
              </a:lnSpc>
              <a:buSzPct val="100000"/>
              <a:buFont typeface="+mj-lt"/>
              <a:buAutoNum type="arabicPeriod" startAt="4"/>
            </a:pPr>
            <a:r>
              <a:rPr lang="en-US" sz="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dim_date: Date_Key, Survey_Date, Year, Quarter, Month_Number, Month_Name, Day_Of_Month, Day_Name</a:t>
            </a:r>
            <a:endParaRPr lang="en-US" sz="550" dirty="0"/>
          </a:p>
          <a:p>
            <a:pPr marL="342900" indent="-342900" algn="l">
              <a:lnSpc>
                <a:spcPct val="100000"/>
              </a:lnSpc>
              <a:buSzPct val="100000"/>
              <a:buFont typeface="+mj-lt"/>
              <a:buAutoNum type="arabicPeriod" startAt="5"/>
            </a:pPr>
            <a:r>
              <a:rPr lang="en-US" sz="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dim_service: Service_Key, service_type</a:t>
            </a:r>
            <a:endParaRPr lang="en-US" sz="550" dirty="0"/>
          </a:p>
          <a:p>
            <a:pPr marL="342900" indent="-342900" algn="l">
              <a:lnSpc>
                <a:spcPct val="100000"/>
              </a:lnSpc>
              <a:buSzPct val="100000"/>
              <a:buFont typeface="+mj-lt"/>
              <a:buAutoNum type="arabicPeriod" startAt="6"/>
            </a:pPr>
            <a:r>
              <a:rPr lang="en-US" sz="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dim_visit: Visit_Key, Visit_Channel, Feedback_Category, Insurance_Type, Service_Shift, Visit_Outcome, cancelation_reason, equipment_used, equipment_availability</a:t>
            </a:r>
            <a:endParaRPr lang="en-US" sz="5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022" y="2642815"/>
            <a:ext cx="6553200" cy="3657600"/>
          </a:xfrm>
          <a:prstGeom prst="rect">
            <a:avLst/>
          </a:prstGeom>
        </p:spPr>
      </p:pic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022" y="2642815"/>
            <a:ext cx="6553200" cy="3657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48022" y="6340227"/>
            <a:ext cx="8895978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The diagram visually represents the star schema structure, highlighting the central fact table and its connections to the various dimension tables through foreign keys.</a:t>
            </a:r>
            <a:endParaRPr lang="en-US" sz="5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D091F7E-AB51-8689-2637-1D415F6225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91357"/>
            <a:ext cx="9144000" cy="4960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3410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8018" y="421630"/>
            <a:ext cx="7059290" cy="42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6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Python: Dashboard 1 - Satisfaction Metrics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472901" y="895424"/>
            <a:ext cx="3394695" cy="337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Key Metrics Displayed: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72901" y="1426443"/>
            <a:ext cx="8198197" cy="979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Average NPS Score: 43.87</a:t>
            </a:r>
            <a:endParaRPr lang="en-US" sz="1050" dirty="0"/>
          </a:p>
          <a:p>
            <a:pPr marL="342900" indent="-342900" algn="l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Average Waiting Time: 35.25 minutes</a:t>
            </a:r>
            <a:endParaRPr lang="en-US" sz="1050" dirty="0"/>
          </a:p>
          <a:p>
            <a:pPr marL="342900" indent="-342900" algn="l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Average Profit per Patient: $2,013.11</a:t>
            </a:r>
            <a:endParaRPr lang="en-US" sz="1050" dirty="0"/>
          </a:p>
          <a:p>
            <a:pPr marL="342900" indent="-342900" algn="l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Average Overall Rating: 4.30/5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72901" y="2599134"/>
            <a:ext cx="3159621" cy="337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Visualizations: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472901" y="3130153"/>
            <a:ext cx="8198197" cy="12356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0000"/>
              </a:lnSpc>
              <a:buSzPct val="100000"/>
              <a:buFont typeface="+mj-lt"/>
              <a:buAutoNum type="arabicPeriod"/>
            </a:pPr>
            <a:r>
              <a:rPr lang="en-US" sz="10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NPS Trend Over Time (Line Chart): Shows monthly NPS from 2024-2025 with clear downward trend in Q4 2025</a:t>
            </a:r>
            <a:endParaRPr lang="en-US" sz="1050" dirty="0"/>
          </a:p>
          <a:p>
            <a:pPr marL="342900" indent="-342900" algn="l">
              <a:lnSpc>
                <a:spcPct val="130000"/>
              </a:lnSpc>
              <a:buSzPct val="100000"/>
              <a:buFont typeface="+mj-lt"/>
              <a:buAutoNum type="arabicPeriod" startAt="2"/>
            </a:pPr>
            <a:r>
              <a:rPr lang="en-US" sz="10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Waiting Time vs Branches (Bar Chart): Compares average waiting times across all 5 branches</a:t>
            </a:r>
            <a:endParaRPr lang="en-US" sz="1050" dirty="0"/>
          </a:p>
          <a:p>
            <a:pPr marL="342900" indent="-342900" algn="l">
              <a:lnSpc>
                <a:spcPct val="130000"/>
              </a:lnSpc>
              <a:buSzPct val="100000"/>
              <a:buFont typeface="+mj-lt"/>
              <a:buAutoNum type="arabicPeriod" startAt="3"/>
            </a:pPr>
            <a:r>
              <a:rPr lang="en-US" sz="10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Queue Length vs Appointment Delay (Stacked Bar): Shows relationship between queue metrics and delays</a:t>
            </a:r>
            <a:endParaRPr lang="en-US" sz="1050" dirty="0"/>
          </a:p>
          <a:p>
            <a:pPr marL="342900" indent="-342900" algn="l">
              <a:lnSpc>
                <a:spcPct val="130000"/>
              </a:lnSpc>
              <a:buSzPct val="100000"/>
              <a:buFont typeface="+mj-lt"/>
              <a:buAutoNum type="arabicPeriod" startAt="4"/>
            </a:pPr>
            <a:r>
              <a:rPr lang="en-US" sz="10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Profit Trend (Line Chart): Monthly profit trend aligned with NPS decline</a:t>
            </a:r>
            <a:endParaRPr lang="en-US" sz="1050" dirty="0"/>
          </a:p>
          <a:p>
            <a:pPr marL="342900" indent="-342900" algn="l">
              <a:lnSpc>
                <a:spcPct val="130000"/>
              </a:lnSpc>
              <a:buSzPct val="100000"/>
              <a:buFont typeface="+mj-lt"/>
              <a:buAutoNum type="arabicPeriod" startAt="5"/>
            </a:pPr>
            <a:r>
              <a:rPr lang="en-US" sz="10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Overall Rating vs NPS by Branch (Scatter): Shows correlation between overall satisfaction and NPS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72901" y="4510683"/>
            <a:ext cx="8655397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[Python Dashboard 1 - Satisfaction Metrics Visualization]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A0DFC38-DDD5-5F9C-C2D7-ED3CEB4C0F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02415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95424" y="421630"/>
            <a:ext cx="7124477" cy="42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6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Python: Dashboard 2 - Operational Drivers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472901" y="895424"/>
            <a:ext cx="3394695" cy="337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Key Metrics Displayed: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72901" y="1426443"/>
            <a:ext cx="8198197" cy="979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Average NPS Score: 43.87</a:t>
            </a:r>
            <a:endParaRPr lang="en-US" sz="1050" dirty="0"/>
          </a:p>
          <a:p>
            <a:pPr marL="342900" indent="-342900" algn="l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Total Complaints: 2,225</a:t>
            </a:r>
            <a:endParaRPr lang="en-US" sz="1050" dirty="0"/>
          </a:p>
          <a:p>
            <a:pPr marL="342900" indent="-342900" algn="l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Average Queue Length: 24.51 patients</a:t>
            </a:r>
            <a:endParaRPr lang="en-US" sz="1050" dirty="0"/>
          </a:p>
          <a:p>
            <a:pPr marL="342900" indent="-342900" algn="l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Average Doctor Rating: 4.53/5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72901" y="2599134"/>
            <a:ext cx="3159621" cy="337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Visualizations: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472901" y="3130153"/>
            <a:ext cx="8198197" cy="12356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0000"/>
              </a:lnSpc>
              <a:buSzPct val="100000"/>
              <a:buFont typeface="+mj-lt"/>
              <a:buAutoNum type="arabicPeriod"/>
            </a:pPr>
            <a:r>
              <a:rPr lang="en-US" sz="10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Waiting Time vs NPS Correlation (Scatter Plot): Shows strong negative correlation (-0.75) between waiting time and NPS</a:t>
            </a:r>
            <a:endParaRPr lang="en-US" sz="1050" dirty="0"/>
          </a:p>
          <a:p>
            <a:pPr marL="342900" indent="-342900" algn="l">
              <a:lnSpc>
                <a:spcPct val="130000"/>
              </a:lnSpc>
              <a:buSzPct val="100000"/>
              <a:buFont typeface="+mj-lt"/>
              <a:buAutoNum type="arabicPeriod" startAt="2"/>
            </a:pPr>
            <a:r>
              <a:rPr lang="en-US" sz="10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Complaints vs Insurance Type (Bar Chart): Private insurance generates most complaints (858), followed by Self-Pay (542)</a:t>
            </a:r>
            <a:endParaRPr lang="en-US" sz="1050" dirty="0"/>
          </a:p>
          <a:p>
            <a:pPr marL="342900" indent="-342900" algn="l">
              <a:lnSpc>
                <a:spcPct val="130000"/>
              </a:lnSpc>
              <a:buSzPct val="100000"/>
              <a:buFont typeface="+mj-lt"/>
              <a:buAutoNum type="arabicPeriod" startAt="3"/>
            </a:pPr>
            <a:r>
              <a:rPr lang="en-US" sz="10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Doctor Rating vs Branches (Bar Chart): Shows consistent doctor quality across branches (4.52-4.54)</a:t>
            </a:r>
            <a:endParaRPr lang="en-US" sz="1050" dirty="0"/>
          </a:p>
          <a:p>
            <a:pPr marL="342900" indent="-342900" algn="l">
              <a:lnSpc>
                <a:spcPct val="130000"/>
              </a:lnSpc>
              <a:buSzPct val="100000"/>
              <a:buFont typeface="+mj-lt"/>
              <a:buAutoNum type="arabicPeriod" startAt="4"/>
            </a:pPr>
            <a:r>
              <a:rPr lang="en-US" sz="10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Doctor Workload vs Queue Length (Grouped Bar): Emergency department has highest combined workload</a:t>
            </a:r>
            <a:endParaRPr lang="en-US" sz="1050" dirty="0"/>
          </a:p>
          <a:p>
            <a:pPr marL="342900" indent="-342900" algn="l">
              <a:lnSpc>
                <a:spcPct val="130000"/>
              </a:lnSpc>
              <a:buSzPct val="100000"/>
              <a:buFont typeface="+mj-lt"/>
              <a:buAutoNum type="arabicPeriod" startAt="5"/>
            </a:pPr>
            <a:r>
              <a:rPr lang="en-US" sz="10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Waiting Time vs Department (Horizontal Bar): Emergency department (49.2 min) is critical bottleneck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72901" y="4510683"/>
            <a:ext cx="8655397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[Python Dashboard 2 - Operational Drivers Visualization]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54F83E8-82C9-E10B-4446-9E3C81EDCE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13682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1796" y="381149"/>
            <a:ext cx="7091735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5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Python: Dashboard 3 - Performance Analysis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49610" y="829121"/>
            <a:ext cx="3249885" cy="321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Key Metrics Displayed: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49610" y="1324868"/>
            <a:ext cx="8244780" cy="9058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7000"/>
              </a:lnSpc>
              <a:buSzPct val="100000"/>
              <a:buChar char="•"/>
            </a:pPr>
            <a:r>
              <a:rPr lang="en-US" sz="10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Average NPS Score: 43.87</a:t>
            </a:r>
            <a:endParaRPr lang="en-US" sz="1000" dirty="0"/>
          </a:p>
          <a:p>
            <a:pPr marL="342900" indent="-342900" algn="l">
              <a:lnSpc>
                <a:spcPct val="127000"/>
              </a:lnSpc>
              <a:buSzPct val="100000"/>
              <a:buChar char="•"/>
            </a:pPr>
            <a:r>
              <a:rPr lang="en-US" sz="10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Total Complaints: 2,225</a:t>
            </a:r>
            <a:endParaRPr lang="en-US" sz="1000" dirty="0"/>
          </a:p>
          <a:p>
            <a:pPr marL="342900" indent="-342900" algn="l">
              <a:lnSpc>
                <a:spcPct val="127000"/>
              </a:lnSpc>
              <a:buSzPct val="100000"/>
              <a:buChar char="•"/>
            </a:pPr>
            <a:r>
              <a:rPr lang="en-US" sz="10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Average Waiting Time: 35 minutes</a:t>
            </a:r>
            <a:endParaRPr lang="en-US" sz="1000" dirty="0"/>
          </a:p>
          <a:p>
            <a:pPr marL="342900" indent="-342900" algn="l">
              <a:lnSpc>
                <a:spcPct val="127000"/>
              </a:lnSpc>
              <a:buSzPct val="100000"/>
              <a:buChar char="•"/>
            </a:pPr>
            <a:r>
              <a:rPr lang="en-US" sz="10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Average Doctor Rating: 4.53/5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49610" y="2405286"/>
            <a:ext cx="3026718" cy="321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Visualizations: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49610" y="2901032"/>
            <a:ext cx="8244780" cy="1534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7000"/>
              </a:lnSpc>
              <a:buSzPct val="100000"/>
              <a:buFont typeface="+mj-lt"/>
              <a:buAutoNum type="arabicPeriod"/>
            </a:pPr>
            <a:r>
              <a:rPr lang="en-US" sz="10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Patient Distribution by Insurance (Pie Chart): Regular 59.7%, Insurance 30.2%, VIP 10.1%</a:t>
            </a:r>
            <a:endParaRPr lang="en-US" sz="1000" dirty="0"/>
          </a:p>
          <a:p>
            <a:pPr marL="342900" indent="-342900" algn="l">
              <a:lnSpc>
                <a:spcPct val="127000"/>
              </a:lnSpc>
              <a:buSzPct val="100000"/>
              <a:buFont typeface="+mj-lt"/>
              <a:buAutoNum type="arabicPeriod" startAt="2"/>
            </a:pPr>
            <a:r>
              <a:rPr lang="en-US" sz="10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Performance by Admission Type (Bar Chart): Scheduled (48.8), Referral (47.84), Emergency (34.25)</a:t>
            </a:r>
            <a:endParaRPr lang="en-US" sz="1000" dirty="0"/>
          </a:p>
          <a:p>
            <a:pPr marL="342900" indent="-342900" algn="l">
              <a:lnSpc>
                <a:spcPct val="127000"/>
              </a:lnSpc>
              <a:buSzPct val="100000"/>
              <a:buFont typeface="+mj-lt"/>
              <a:buAutoNum type="arabicPeriod" startAt="3"/>
            </a:pPr>
            <a:r>
              <a:rPr lang="en-US" sz="10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Profit by Admission Type (Pie Chart): Emergency 33.33%, Referral 33.33%, Scheduled 33.33%</a:t>
            </a:r>
            <a:endParaRPr lang="en-US" sz="1000" dirty="0"/>
          </a:p>
          <a:p>
            <a:pPr marL="342900" indent="-342900" algn="l">
              <a:lnSpc>
                <a:spcPct val="127000"/>
              </a:lnSpc>
              <a:buSzPct val="100000"/>
              <a:buFont typeface="+mj-lt"/>
              <a:buAutoNum type="arabicPeriod" startAt="4"/>
            </a:pPr>
            <a:r>
              <a:rPr lang="en-US" sz="10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Patients by Visit Channel (Bar Chart): Walk-in (2,740), Call/Checkin (2,100), Referral/Walk-in (2,000), Mobile/Walk-in (1,800), Website (1,400)</a:t>
            </a:r>
            <a:endParaRPr lang="en-US" sz="1000" dirty="0"/>
          </a:p>
          <a:p>
            <a:pPr marL="342900" indent="-342900" algn="l">
              <a:lnSpc>
                <a:spcPct val="127000"/>
              </a:lnSpc>
              <a:buSzPct val="100000"/>
              <a:buFont typeface="+mj-lt"/>
              <a:buAutoNum type="arabicPeriod" startAt="5"/>
            </a:pPr>
            <a:r>
              <a:rPr lang="en-US" sz="10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Average Rating by Department (Horizontal Bar): Maternity (10.9), Orthopedics (10.8), Pediatrics (10.8), Neurology (10.7), Oncology (10.7), Cardiology (10.6), General Surgery (10.4), Emergency (9.9)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49610" y="4566345"/>
            <a:ext cx="8694390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[Python Dashboard 3 - Performance Analysis Visualization]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D142FB1-DD3C-8105-8414-B67B382CFE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25858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17328" y="308297"/>
            <a:ext cx="548074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Power BI: Dashboard 1 - Satisfaction Overview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333375" y="631552"/>
            <a:ext cx="2528292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Key Metrics Displayed: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33375" y="1013296"/>
            <a:ext cx="419859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4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43.8</a:t>
            </a:r>
            <a:endParaRPr lang="en-US" sz="2450" dirty="0"/>
          </a:p>
        </p:txBody>
      </p:sp>
      <p:sp>
        <p:nvSpPr>
          <p:cNvPr id="5" name="Text 3"/>
          <p:cNvSpPr/>
          <p:nvPr/>
        </p:nvSpPr>
        <p:spPr>
          <a:xfrm>
            <a:off x="1837358" y="1423243"/>
            <a:ext cx="1190625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Average NPS Score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611960" y="1013296"/>
            <a:ext cx="4198665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4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35</a:t>
            </a:r>
            <a:endParaRPr lang="en-US" sz="2450" dirty="0"/>
          </a:p>
        </p:txBody>
      </p:sp>
      <p:sp>
        <p:nvSpPr>
          <p:cNvPr id="7" name="Text 5"/>
          <p:cNvSpPr/>
          <p:nvPr/>
        </p:nvSpPr>
        <p:spPr>
          <a:xfrm>
            <a:off x="6086921" y="1423243"/>
            <a:ext cx="1248742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Average Waiting Time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611960" y="1610469"/>
            <a:ext cx="4198665" cy="127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1000"/>
              </a:lnSpc>
              <a:buNone/>
            </a:pPr>
            <a:r>
              <a:rPr lang="en-US" sz="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minutes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33375" y="1913483"/>
            <a:ext cx="419859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4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$2.0K</a:t>
            </a:r>
            <a:endParaRPr lang="en-US" sz="2450" dirty="0"/>
          </a:p>
        </p:txBody>
      </p:sp>
      <p:sp>
        <p:nvSpPr>
          <p:cNvPr id="10" name="Text 8"/>
          <p:cNvSpPr/>
          <p:nvPr/>
        </p:nvSpPr>
        <p:spPr>
          <a:xfrm>
            <a:off x="1837358" y="2323430"/>
            <a:ext cx="1190625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Average Profit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611960" y="1913483"/>
            <a:ext cx="4198665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4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10.5</a:t>
            </a:r>
            <a:endParaRPr lang="en-US" sz="2450" dirty="0"/>
          </a:p>
        </p:txBody>
      </p:sp>
      <p:sp>
        <p:nvSpPr>
          <p:cNvPr id="12" name="Text 10"/>
          <p:cNvSpPr/>
          <p:nvPr/>
        </p:nvSpPr>
        <p:spPr>
          <a:xfrm>
            <a:off x="6056784" y="2323430"/>
            <a:ext cx="1308943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Average Overall Rating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33375" y="2568253"/>
            <a:ext cx="236220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Visualizations: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33375" y="2902372"/>
            <a:ext cx="8477250" cy="876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11000"/>
              </a:lnSpc>
              <a:buSzPct val="100000"/>
              <a:buFont typeface="+mj-lt"/>
              <a:buAutoNum type="arabicPeriod"/>
            </a:pPr>
            <a:r>
              <a:rPr lang="en-US" sz="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Performance Tabs: Three tabs showing Satisfaction, Driver, and Performance metrics</a:t>
            </a:r>
            <a:endParaRPr lang="en-US" sz="750" dirty="0"/>
          </a:p>
          <a:p>
            <a:pPr marL="342900" indent="-342900" algn="l">
              <a:lnSpc>
                <a:spcPct val="111000"/>
              </a:lnSpc>
              <a:buSzPct val="100000"/>
              <a:buFont typeface="+mj-lt"/>
              <a:buAutoNum type="arabicPeriod" startAt="2"/>
            </a:pPr>
            <a:r>
              <a:rPr lang="en-US" sz="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Waiting Time vs Branches (Bar Chart): Shows performance across Central, East, North, South, West branches</a:t>
            </a:r>
            <a:endParaRPr lang="en-US" sz="750" dirty="0"/>
          </a:p>
          <a:p>
            <a:pPr marL="342900" indent="-342900" algn="l">
              <a:lnSpc>
                <a:spcPct val="111000"/>
              </a:lnSpc>
              <a:buSzPct val="100000"/>
              <a:buFont typeface="+mj-lt"/>
              <a:buAutoNum type="arabicPeriod" startAt="3"/>
            </a:pPr>
            <a:r>
              <a:rPr lang="en-US" sz="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Queue Length vs Appointment Delay (Stacked Bar): Relationship between queue metrics</a:t>
            </a:r>
            <a:endParaRPr lang="en-US" sz="750" dirty="0"/>
          </a:p>
          <a:p>
            <a:pPr marL="342900" indent="-342900" algn="l">
              <a:lnSpc>
                <a:spcPct val="111000"/>
              </a:lnSpc>
              <a:buSzPct val="100000"/>
              <a:buFont typeface="+mj-lt"/>
              <a:buAutoNum type="arabicPeriod" startAt="4"/>
            </a:pPr>
            <a:r>
              <a:rPr lang="en-US" sz="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Doctor Rating Distribution (Pie Chart): Distribution of doctor ratings</a:t>
            </a:r>
            <a:endParaRPr lang="en-US" sz="750" dirty="0"/>
          </a:p>
          <a:p>
            <a:pPr marL="342900" indent="-342900" algn="l">
              <a:lnSpc>
                <a:spcPct val="111000"/>
              </a:lnSpc>
              <a:buSzPct val="100000"/>
              <a:buFont typeface="+mj-lt"/>
              <a:buAutoNum type="arabicPeriod" startAt="5"/>
            </a:pPr>
            <a:r>
              <a:rPr lang="en-US" sz="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NPS Trend (Line Chart): Monthly trend from 2024-2025</a:t>
            </a:r>
            <a:endParaRPr lang="en-US" sz="750" dirty="0"/>
          </a:p>
          <a:p>
            <a:pPr marL="342900" indent="-342900" algn="l">
              <a:lnSpc>
                <a:spcPct val="111000"/>
              </a:lnSpc>
              <a:buSzPct val="100000"/>
              <a:buFont typeface="+mj-lt"/>
              <a:buAutoNum type="arabicPeriod" startAt="6"/>
            </a:pPr>
            <a:r>
              <a:rPr lang="en-US" sz="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Feedback Type (Pie Chart): Complaint, Praise, Negative distribution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33375" y="3874740"/>
            <a:ext cx="236220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Filters Available: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33375" y="4208859"/>
            <a:ext cx="8477250" cy="426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11000"/>
              </a:lnSpc>
              <a:buSzPct val="100000"/>
              <a:buChar char="•"/>
            </a:pPr>
            <a:r>
              <a:rPr lang="en-US" sz="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Patient Segment (Insurance, Regular, VIP)</a:t>
            </a:r>
            <a:endParaRPr lang="en-US" sz="750" dirty="0"/>
          </a:p>
          <a:p>
            <a:pPr marL="342900" indent="-342900" algn="l">
              <a:lnSpc>
                <a:spcPct val="111000"/>
              </a:lnSpc>
              <a:buSzPct val="100000"/>
              <a:buChar char="•"/>
            </a:pPr>
            <a:r>
              <a:rPr lang="en-US" sz="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Hospital Branch (Central, East, North, South, West)</a:t>
            </a:r>
            <a:endParaRPr lang="en-US" sz="750" dirty="0"/>
          </a:p>
          <a:p>
            <a:pPr marL="342900" indent="-342900" algn="l">
              <a:lnSpc>
                <a:spcPct val="111000"/>
              </a:lnSpc>
              <a:buSzPct val="100000"/>
              <a:buChar char="•"/>
            </a:pPr>
            <a:r>
              <a:rPr lang="en-US" sz="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Year (2024, 2025)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33375" y="4707806"/>
            <a:ext cx="8810625" cy="127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[Power BI Dashboard 1 - Satisfaction Overview]</a:t>
            </a:r>
            <a:endParaRPr lang="en-US" sz="7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5B3A160-759A-AF1C-9D0F-20E5B316C7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234"/>
            <a:ext cx="9144000" cy="5091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90790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36478" y="194890"/>
            <a:ext cx="384244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Power BI: Dashboard 2 - Drivers &amp; Insights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248022" y="430485"/>
            <a:ext cx="1997571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Key Metrics Displayed: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48022" y="696218"/>
            <a:ext cx="4301803" cy="233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18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43.8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955899" y="992088"/>
            <a:ext cx="88597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6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Average NPS Score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4594101" y="696218"/>
            <a:ext cx="4301877" cy="233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18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2225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302053" y="992088"/>
            <a:ext cx="88597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6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Total Complaints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248022" y="1209080"/>
            <a:ext cx="4301803" cy="233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18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25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922859" y="1504950"/>
            <a:ext cx="95205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6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Average Queue Length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4594101" y="1209080"/>
            <a:ext cx="4301877" cy="233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18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4.6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266706" y="1504950"/>
            <a:ext cx="956593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6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Average Doctor Rating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248022" y="1668810"/>
            <a:ext cx="1874862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Visualizations:</a:t>
            </a:r>
            <a:endParaRPr lang="en-US" sz="11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022" y="1899121"/>
            <a:ext cx="8647956" cy="4842793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248022" y="6781726"/>
            <a:ext cx="8895978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The pie chart shows the distribution of complaints by insurance type, highlighting that private insurance generates the most complaints.</a:t>
            </a:r>
            <a:endParaRPr lang="en-US" sz="55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022" y="6906592"/>
            <a:ext cx="8647956" cy="4842793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48022" y="11789197"/>
            <a:ext cx="8895978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This bar chart compares the average approval time across different insurance types, indicating that private insurance has the longest approval time.</a:t>
            </a:r>
            <a:endParaRPr lang="en-US" sz="55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8022" y="11914063"/>
            <a:ext cx="8647956" cy="484279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48022" y="16796668"/>
            <a:ext cx="8895978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The horizontal bar chart highlights waiting times by department, showing Emergency as having the longest wait.</a:t>
            </a:r>
            <a:endParaRPr lang="en-US" sz="550" dirty="0"/>
          </a:p>
        </p:txBody>
      </p:sp>
      <p:sp>
        <p:nvSpPr>
          <p:cNvPr id="19" name="Text 14"/>
          <p:cNvSpPr/>
          <p:nvPr/>
        </p:nvSpPr>
        <p:spPr>
          <a:xfrm>
            <a:off x="248022" y="16921535"/>
            <a:ext cx="8647956" cy="572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00000"/>
              </a:lnSpc>
              <a:buSzPct val="100000"/>
              <a:buFont typeface="+mj-lt"/>
              <a:buAutoNum type="arabicPeriod"/>
            </a:pPr>
            <a:r>
              <a:rPr lang="en-US" sz="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Waiting Time vs NPS (Scatter Plot): Shows strong negative correlation</a:t>
            </a:r>
            <a:endParaRPr lang="en-US" sz="550" dirty="0"/>
          </a:p>
          <a:p>
            <a:pPr marL="342900" indent="-342900" algn="l">
              <a:lnSpc>
                <a:spcPct val="100000"/>
              </a:lnSpc>
              <a:buSzPct val="100000"/>
              <a:buFont typeface="+mj-lt"/>
              <a:buAutoNum type="arabicPeriod" startAt="2"/>
            </a:pPr>
            <a:r>
              <a:rPr lang="en-US" sz="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Complaints vs Insurance (Pie Chart): Private (858), Self-Pay (542), Corporate (448), Government (336), Not Specified (41)</a:t>
            </a:r>
            <a:endParaRPr lang="en-US" sz="550" dirty="0"/>
          </a:p>
          <a:p>
            <a:pPr marL="342900" indent="-342900" algn="l">
              <a:lnSpc>
                <a:spcPct val="100000"/>
              </a:lnSpc>
              <a:buSzPct val="100000"/>
              <a:buFont typeface="+mj-lt"/>
              <a:buAutoNum type="arabicPeriod" startAt="3"/>
            </a:pPr>
            <a:r>
              <a:rPr lang="en-US" sz="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Insurance Type vs Approval Time (Bar Chart): Private (3916 min), Corporate (2011 min), Government (1509 min), Self-Pay (1990 min)</a:t>
            </a:r>
            <a:endParaRPr lang="en-US" sz="550" dirty="0"/>
          </a:p>
          <a:p>
            <a:pPr marL="342900" indent="-342900" algn="l">
              <a:lnSpc>
                <a:spcPct val="100000"/>
              </a:lnSpc>
              <a:buSzPct val="100000"/>
              <a:buFont typeface="+mj-lt"/>
              <a:buAutoNum type="arabicPeriod" startAt="4"/>
            </a:pPr>
            <a:r>
              <a:rPr lang="en-US" sz="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Doctor Rating vs Branches (Bar Chart): Consistent ratings across all branches</a:t>
            </a:r>
            <a:endParaRPr lang="en-US" sz="550" dirty="0"/>
          </a:p>
          <a:p>
            <a:pPr marL="342900" indent="-342900" algn="l">
              <a:lnSpc>
                <a:spcPct val="100000"/>
              </a:lnSpc>
              <a:buSzPct val="100000"/>
              <a:buFont typeface="+mj-lt"/>
              <a:buAutoNum type="arabicPeriod" startAt="5"/>
            </a:pPr>
            <a:r>
              <a:rPr lang="en-US" sz="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Doctor Workload vs Queue Length (Grouped Bar): Emergency department highest workload</a:t>
            </a:r>
            <a:endParaRPr lang="en-US" sz="550" dirty="0"/>
          </a:p>
          <a:p>
            <a:pPr marL="342900" indent="-342900" algn="l">
              <a:lnSpc>
                <a:spcPct val="100000"/>
              </a:lnSpc>
              <a:buSzPct val="100000"/>
              <a:buFont typeface="+mj-lt"/>
              <a:buAutoNum type="arabicPeriod" startAt="6"/>
            </a:pPr>
            <a:r>
              <a:rPr lang="en-US" sz="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Waiting Time vs Department (Horizontal Bar): Emergency (49.2), General Surgery (38.8), Cardiology (35.9), etc.</a:t>
            </a:r>
            <a:endParaRPr lang="en-US" sz="550" dirty="0"/>
          </a:p>
        </p:txBody>
      </p:sp>
      <p:sp>
        <p:nvSpPr>
          <p:cNvPr id="20" name="Text 15"/>
          <p:cNvSpPr/>
          <p:nvPr/>
        </p:nvSpPr>
        <p:spPr>
          <a:xfrm>
            <a:off x="248022" y="17546762"/>
            <a:ext cx="1874862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Filters Available: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248022" y="17777073"/>
            <a:ext cx="8647956" cy="279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Patient Segment (Insurance, Regular, VIP)</a:t>
            </a:r>
            <a:endParaRPr lang="en-US" sz="550" dirty="0"/>
          </a:p>
          <a:p>
            <a:pPr marL="342900" indent="-342900" algn="l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Hospital Branch (Central, East, North, South, West)</a:t>
            </a:r>
            <a:endParaRPr lang="en-US" sz="550" dirty="0"/>
          </a:p>
          <a:p>
            <a:pPr marL="342900" indent="-342900" algn="l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Year (2024, 2025)</a:t>
            </a:r>
            <a:endParaRPr lang="en-US" sz="550" dirty="0"/>
          </a:p>
        </p:txBody>
      </p:sp>
      <p:sp>
        <p:nvSpPr>
          <p:cNvPr id="22" name="Text 17"/>
          <p:cNvSpPr/>
          <p:nvPr/>
        </p:nvSpPr>
        <p:spPr>
          <a:xfrm>
            <a:off x="248022" y="18096756"/>
            <a:ext cx="8895978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[Power BI Dashboard 2 - Drivers &amp; Insights]</a:t>
            </a:r>
            <a:endParaRPr lang="en-US" sz="5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9671EE6-909B-B4EB-0CA1-17788E82D7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306"/>
            <a:ext cx="9144000" cy="5060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6652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14736" y="194890"/>
            <a:ext cx="408592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Power BI: Dashboard 3 - Performance Metrics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248022" y="430485"/>
            <a:ext cx="1997571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Key Metrics Displayed: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48022" y="696218"/>
            <a:ext cx="4301803" cy="233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18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43.89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955899" y="992088"/>
            <a:ext cx="88597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6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Average NPS Score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4594101" y="696218"/>
            <a:ext cx="4301877" cy="233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18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2225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302053" y="992088"/>
            <a:ext cx="88597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6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Total Complaints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248022" y="1209080"/>
            <a:ext cx="4301803" cy="233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18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35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934542" y="1504950"/>
            <a:ext cx="928762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6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Average Waiting Time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248022" y="1636886"/>
            <a:ext cx="430180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minutes</a:t>
            </a:r>
            <a:endParaRPr lang="en-US" sz="550" dirty="0"/>
          </a:p>
        </p:txBody>
      </p:sp>
      <p:sp>
        <p:nvSpPr>
          <p:cNvPr id="11" name="Text 9"/>
          <p:cNvSpPr/>
          <p:nvPr/>
        </p:nvSpPr>
        <p:spPr>
          <a:xfrm>
            <a:off x="4594101" y="1209080"/>
            <a:ext cx="4301877" cy="233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18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4.53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266706" y="1504950"/>
            <a:ext cx="956593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6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Average Doctor Rating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4594101" y="1636886"/>
            <a:ext cx="4301877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/5</a:t>
            </a:r>
            <a:endParaRPr lang="en-US" sz="550" dirty="0"/>
          </a:p>
        </p:txBody>
      </p:sp>
      <p:sp>
        <p:nvSpPr>
          <p:cNvPr id="14" name="Text 12"/>
          <p:cNvSpPr/>
          <p:nvPr/>
        </p:nvSpPr>
        <p:spPr>
          <a:xfrm>
            <a:off x="248022" y="1775073"/>
            <a:ext cx="1874862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Visualizations:</a:t>
            </a:r>
            <a:endParaRPr lang="en-US" sz="110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022" y="2005385"/>
            <a:ext cx="8647956" cy="4842793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248022" y="6887989"/>
            <a:ext cx="8895978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The pie chart illustrates the distribution of patients across different insurance types, with Regular patients forming the largest segment.</a:t>
            </a:r>
            <a:endParaRPr lang="en-US" sz="55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022" y="7012856"/>
            <a:ext cx="8647956" cy="4842793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48022" y="11895460"/>
            <a:ext cx="8895978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This bar chart compares performance by admission type, showing Scheduled and Referral admissions having higher performance scores than Emergency admissions.</a:t>
            </a:r>
            <a:endParaRPr lang="en-US" sz="55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8022" y="12020327"/>
            <a:ext cx="8647956" cy="4842793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248022" y="16902931"/>
            <a:ext cx="8895978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The horizontal bar chart displays the average rating by department, highlighting Maternity as the highest-rated and Emergency as the lowest-rated.</a:t>
            </a:r>
            <a:endParaRPr lang="en-US" sz="550" dirty="0"/>
          </a:p>
        </p:txBody>
      </p:sp>
      <p:sp>
        <p:nvSpPr>
          <p:cNvPr id="21" name="Text 16"/>
          <p:cNvSpPr/>
          <p:nvPr/>
        </p:nvSpPr>
        <p:spPr>
          <a:xfrm>
            <a:off x="248022" y="17027798"/>
            <a:ext cx="8647956" cy="279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00000"/>
              </a:lnSpc>
              <a:buSzPct val="100000"/>
              <a:buFont typeface="+mj-lt"/>
              <a:buAutoNum type="arabicPeriod"/>
            </a:pPr>
            <a:r>
              <a:rPr lang="en-US" sz="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Profit by Admission Type (Pie Chart): Emergency, Referral, Scheduled distribution</a:t>
            </a:r>
            <a:endParaRPr lang="en-US" sz="550" dirty="0"/>
          </a:p>
          <a:p>
            <a:pPr marL="342900" indent="-342900" algn="l">
              <a:lnSpc>
                <a:spcPct val="100000"/>
              </a:lnSpc>
              <a:buSzPct val="100000"/>
              <a:buFont typeface="+mj-lt"/>
              <a:buAutoNum type="arabicPeriod" startAt="2"/>
            </a:pPr>
            <a:r>
              <a:rPr lang="en-US" sz="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Patients by Visit Channel (Bar Chart): Walk-in, Call/Checkin, Referral/Walk-in, Mobile/Walk-in, Website</a:t>
            </a:r>
            <a:endParaRPr lang="en-US" sz="550" dirty="0"/>
          </a:p>
          <a:p>
            <a:pPr marL="342900" indent="-342900" algn="l">
              <a:lnSpc>
                <a:spcPct val="100000"/>
              </a:lnSpc>
              <a:buSzPct val="100000"/>
              <a:buFont typeface="+mj-lt"/>
              <a:buAutoNum type="arabicPeriod" startAt="3"/>
            </a:pPr>
            <a:r>
              <a:rPr lang="en-US" sz="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Waiting Time Distribution (Histogram): Shows distribution of waiting times across all patients</a:t>
            </a:r>
            <a:endParaRPr lang="en-US" sz="550" dirty="0"/>
          </a:p>
        </p:txBody>
      </p:sp>
      <p:sp>
        <p:nvSpPr>
          <p:cNvPr id="22" name="Text 17"/>
          <p:cNvSpPr/>
          <p:nvPr/>
        </p:nvSpPr>
        <p:spPr>
          <a:xfrm>
            <a:off x="248022" y="17360801"/>
            <a:ext cx="1874862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Filters Available: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248022" y="17591112"/>
            <a:ext cx="8647956" cy="279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Patient Segment (Insurance, Regular, VIP)</a:t>
            </a:r>
            <a:endParaRPr lang="en-US" sz="550" dirty="0"/>
          </a:p>
          <a:p>
            <a:pPr marL="342900" indent="-342900" algn="l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Hospital Branch (Central, East, North, South, West)</a:t>
            </a:r>
            <a:endParaRPr lang="en-US" sz="550" dirty="0"/>
          </a:p>
          <a:p>
            <a:pPr marL="342900" indent="-342900" algn="l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Year (2024, 2025)</a:t>
            </a:r>
            <a:endParaRPr lang="en-US" sz="550" dirty="0"/>
          </a:p>
        </p:txBody>
      </p:sp>
      <p:sp>
        <p:nvSpPr>
          <p:cNvPr id="24" name="Text 19"/>
          <p:cNvSpPr/>
          <p:nvPr/>
        </p:nvSpPr>
        <p:spPr>
          <a:xfrm>
            <a:off x="248022" y="17910795"/>
            <a:ext cx="8895978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[Power BI Dashboard 3 - Performance Metrics]</a:t>
            </a:r>
            <a:endParaRPr lang="en-US" sz="5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2D200D7-6908-17C7-7886-0F95194AE2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288"/>
            <a:ext cx="9144000" cy="5040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11190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46176" y="194890"/>
            <a:ext cx="462304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Tableau: Dashboard 1 - Patient Experience Overview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248022" y="430485"/>
            <a:ext cx="1997571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Key Metrics Displayed: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48022" y="696218"/>
            <a:ext cx="4301803" cy="233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18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43.8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955899" y="992088"/>
            <a:ext cx="88597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6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Average NPS Score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4594101" y="696218"/>
            <a:ext cx="4301877" cy="233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18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$2.0K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302053" y="992088"/>
            <a:ext cx="88597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6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Average Profit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248022" y="1209080"/>
            <a:ext cx="4301803" cy="233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18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35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934542" y="1504950"/>
            <a:ext cx="928762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6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Average Waiting Time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248022" y="1636886"/>
            <a:ext cx="430180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minutes</a:t>
            </a:r>
            <a:endParaRPr lang="en-US" sz="550" dirty="0"/>
          </a:p>
        </p:txBody>
      </p:sp>
      <p:sp>
        <p:nvSpPr>
          <p:cNvPr id="11" name="Text 9"/>
          <p:cNvSpPr/>
          <p:nvPr/>
        </p:nvSpPr>
        <p:spPr>
          <a:xfrm>
            <a:off x="4594101" y="1209080"/>
            <a:ext cx="4301877" cy="233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18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10K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302053" y="1504950"/>
            <a:ext cx="88597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6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Total Patients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248022" y="1775073"/>
            <a:ext cx="1874862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Visualizations:</a:t>
            </a:r>
            <a:endParaRPr lang="en-US" sz="11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022" y="2005385"/>
            <a:ext cx="8647956" cy="4842793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248022" y="6887989"/>
            <a:ext cx="8895978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1. The line chart illustrates the monthly NPS trend from 2024, showing a decline over the year, indicating a potential decrease in patient satisfaction.</a:t>
            </a:r>
            <a:endParaRPr lang="en-US" sz="55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022" y="7012856"/>
            <a:ext cx="8647956" cy="4842793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48022" y="11895460"/>
            <a:ext cx="8895978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2. This bar chart compares NPS scores across various departments, highlighting Maternity with the highest score and Emergency with the lowest, indicating areas for improvement.</a:t>
            </a:r>
            <a:endParaRPr lang="en-US" sz="55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8022" y="12020327"/>
            <a:ext cx="8647956" cy="484279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248022" y="16902931"/>
            <a:ext cx="8895978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3. The scatter plot visualizes the strong negative correlation between waiting time and NPS, indicating that longer wait times are associated with lower patient satisfaction.</a:t>
            </a:r>
            <a:endParaRPr lang="en-US" sz="55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8022" y="17027798"/>
            <a:ext cx="8647956" cy="4842793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248022" y="21910402"/>
            <a:ext cx="8895978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4. This heatmap shows waiting times by department across different times of day, clearly indicating Emergency as a critical bottleneck, especially during night hours.</a:t>
            </a:r>
            <a:endParaRPr lang="en-US" sz="550" dirty="0"/>
          </a:p>
        </p:txBody>
      </p:sp>
      <p:sp>
        <p:nvSpPr>
          <p:cNvPr id="22" name="Text 16"/>
          <p:cNvSpPr/>
          <p:nvPr/>
        </p:nvSpPr>
        <p:spPr>
          <a:xfrm>
            <a:off x="248022" y="22035269"/>
            <a:ext cx="8647956" cy="182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00000"/>
              </a:lnSpc>
              <a:buSzPct val="100000"/>
              <a:buFont typeface="+mj-lt"/>
              <a:buAutoNum type="arabicPeriod"/>
            </a:pPr>
            <a:r>
              <a:rPr lang="en-US" sz="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Waiting Time vs Branches (Bar Chart): North (35.9), Central (35.8), West (35.5), East (35.0), South (34.5)</a:t>
            </a:r>
            <a:endParaRPr lang="en-US" sz="550" dirty="0"/>
          </a:p>
          <a:p>
            <a:pPr marL="342900" indent="-342900" algn="l">
              <a:lnSpc>
                <a:spcPct val="100000"/>
              </a:lnSpc>
              <a:buSzPct val="100000"/>
              <a:buFont typeface="+mj-lt"/>
              <a:buAutoNum type="arabicPeriod" startAt="2"/>
            </a:pPr>
            <a:r>
              <a:rPr lang="en-US" sz="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Overall Rating vs NPS by Branch (Scatter): Shows correlation between satisfaction metrics</a:t>
            </a:r>
            <a:endParaRPr lang="en-US" sz="550" dirty="0"/>
          </a:p>
        </p:txBody>
      </p:sp>
      <p:sp>
        <p:nvSpPr>
          <p:cNvPr id="23" name="Text 17"/>
          <p:cNvSpPr/>
          <p:nvPr/>
        </p:nvSpPr>
        <p:spPr>
          <a:xfrm>
            <a:off x="248022" y="22270864"/>
            <a:ext cx="1874862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Filters Available: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248022" y="22501175"/>
            <a:ext cx="8647956" cy="279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Patient Segment (Insurance, Regular, VIP)</a:t>
            </a:r>
            <a:endParaRPr lang="en-US" sz="550" dirty="0"/>
          </a:p>
          <a:p>
            <a:pPr marL="342900" indent="-342900" algn="l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Hospital Branch (Central, East, North, South, West)</a:t>
            </a:r>
            <a:endParaRPr lang="en-US" sz="550" dirty="0"/>
          </a:p>
          <a:p>
            <a:pPr marL="342900" indent="-342900" algn="l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Year (2024, 2025)</a:t>
            </a:r>
            <a:endParaRPr lang="en-US" sz="550" dirty="0"/>
          </a:p>
        </p:txBody>
      </p:sp>
      <p:sp>
        <p:nvSpPr>
          <p:cNvPr id="25" name="Text 19"/>
          <p:cNvSpPr/>
          <p:nvPr/>
        </p:nvSpPr>
        <p:spPr>
          <a:xfrm>
            <a:off x="248022" y="22820858"/>
            <a:ext cx="8895978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[Tableau Dashboard 1 - Patient Experience Overview]</a:t>
            </a:r>
            <a:endParaRPr lang="en-US" sz="5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FA8623-F1C1-A821-D2D4-5BB2FA78AE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50120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78347" y="194890"/>
            <a:ext cx="535870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Tableau: Dashboard 2 - Operational Efficiency &amp; Profitability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248022" y="430485"/>
            <a:ext cx="1997571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Key Metrics Displayed: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48022" y="696218"/>
            <a:ext cx="4301803" cy="233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18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43.8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955899" y="992088"/>
            <a:ext cx="88597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6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Average NPS Score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4594101" y="696218"/>
            <a:ext cx="4301877" cy="233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18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$2.0K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302053" y="992088"/>
            <a:ext cx="88597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6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Average Profit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248022" y="1209080"/>
            <a:ext cx="4301803" cy="233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18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35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934542" y="1504950"/>
            <a:ext cx="928762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6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Average Waiting Time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248022" y="1636886"/>
            <a:ext cx="430180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minutes</a:t>
            </a:r>
            <a:endParaRPr lang="en-US" sz="550" dirty="0"/>
          </a:p>
        </p:txBody>
      </p:sp>
      <p:sp>
        <p:nvSpPr>
          <p:cNvPr id="11" name="Text 9"/>
          <p:cNvSpPr/>
          <p:nvPr/>
        </p:nvSpPr>
        <p:spPr>
          <a:xfrm>
            <a:off x="4594101" y="1209080"/>
            <a:ext cx="4301877" cy="233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18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2,225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302053" y="1504950"/>
            <a:ext cx="88597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6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Total Complaints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248022" y="1775073"/>
            <a:ext cx="1874862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Visualizations: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48022" y="2005385"/>
            <a:ext cx="8895978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1. Profit Trend (Line Chart): Monthly profit from 2024-2025 showing correlation with NPS decline</a:t>
            </a:r>
            <a:endParaRPr lang="en-US" sz="55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022" y="2130251"/>
            <a:ext cx="8647956" cy="4842793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248022" y="7012856"/>
            <a:ext cx="8647956" cy="2949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The line chart displays the monthly profit trend, showing a steady decline throughout 2024. This trend correlates with the observed NPS decline in patient satisfaction, suggesting a potential link between operational efficiency and financial outcomes.</a:t>
            </a:r>
            <a:endParaRPr lang="en-US" sz="5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2. Complaints vs Insurance Type (Pie Chart): Private (858), Self-Pay (542), Corporate (448), Government (336), Not Specified (41)</a:t>
            </a:r>
            <a:endParaRPr lang="en-US" sz="55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022" y="7347645"/>
            <a:ext cx="8647956" cy="4842793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48022" y="12230249"/>
            <a:ext cx="8647956" cy="209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This pie chart shows the distribution of complaints based on insurance type, clearly indicating that Private insurance patients account for the largest share of complaints.</a:t>
            </a:r>
            <a:endParaRPr lang="en-US" sz="5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3. Doctor Rating vs Branches (Bar Chart): Shows consistent quality across branches (4.52-4.54)</a:t>
            </a:r>
            <a:endParaRPr lang="en-US" sz="55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8022" y="12479982"/>
            <a:ext cx="8647956" cy="4842793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248022" y="17362587"/>
            <a:ext cx="8647956" cy="209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The bar chart illustrates doctor ratings across different branches, demonstrating a consistent level of quality with ratings ranging from 4.52 to 4.54, indicating uniform doctor performance.</a:t>
            </a:r>
            <a:endParaRPr lang="en-US" sz="5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4. Doctor Workload vs Queue Length (Grouped Bar): Emergency department has highest combined workload</a:t>
            </a:r>
            <a:endParaRPr lang="en-US" sz="55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8022" y="17612320"/>
            <a:ext cx="8647956" cy="484279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248022" y="22494925"/>
            <a:ext cx="8647956" cy="209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This grouped bar chart compares doctor workload and average queue length across departments, highlighting that the Emergency department consistently exhibits the highest combined workload and queue length.</a:t>
            </a:r>
            <a:endParaRPr lang="en-US" sz="5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5. Waiting Time vs Department (Horizontal Bar): Emergency (49.2), General Surgery (38.8), Cardiology (35.9), etc.</a:t>
            </a:r>
            <a:endParaRPr lang="en-US" sz="550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8022" y="22744658"/>
            <a:ext cx="8647956" cy="4842793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248022" y="27627263"/>
            <a:ext cx="8647956" cy="209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This horizontal bar chart displays average waiting times by department, clearly showing Emergency with the longest waiting times, followed by General Surgery and Cardiology.</a:t>
            </a:r>
            <a:endParaRPr lang="en-US" sz="5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6. Insurance Approval Time Comparison (Bar Chart): Private (3916 min), Corporate (2011 min), Government (1509 min), Self-Pay (1990 min)</a:t>
            </a:r>
            <a:endParaRPr lang="en-US" sz="550" dirty="0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8022" y="27876996"/>
            <a:ext cx="8647956" cy="4842793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248022" y="32759600"/>
            <a:ext cx="8895978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The bar chart compares insurance approval times, revealing that Private insurance requires significantly longer approval periods compared to other types.</a:t>
            </a:r>
            <a:endParaRPr lang="en-US" sz="550" dirty="0"/>
          </a:p>
        </p:txBody>
      </p:sp>
      <p:sp>
        <p:nvSpPr>
          <p:cNvPr id="27" name="Text 19"/>
          <p:cNvSpPr/>
          <p:nvPr/>
        </p:nvSpPr>
        <p:spPr>
          <a:xfrm>
            <a:off x="248022" y="32897787"/>
            <a:ext cx="1874862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Filters Available:</a:t>
            </a:r>
            <a:endParaRPr lang="en-US" sz="1100" dirty="0"/>
          </a:p>
        </p:txBody>
      </p:sp>
      <p:sp>
        <p:nvSpPr>
          <p:cNvPr id="28" name="Text 20"/>
          <p:cNvSpPr/>
          <p:nvPr/>
        </p:nvSpPr>
        <p:spPr>
          <a:xfrm>
            <a:off x="248022" y="33128099"/>
            <a:ext cx="8647956" cy="279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Patient Segment (Insurance, Regular, VIP)</a:t>
            </a:r>
            <a:endParaRPr lang="en-US" sz="550" dirty="0"/>
          </a:p>
          <a:p>
            <a:pPr marL="342900" indent="-342900" algn="l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Hospital Branch (Central, East, North, South, West)</a:t>
            </a:r>
            <a:endParaRPr lang="en-US" sz="550" dirty="0"/>
          </a:p>
          <a:p>
            <a:pPr marL="342900" indent="-342900" algn="l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Year (2024, 2025)</a:t>
            </a:r>
            <a:endParaRPr lang="en-US" sz="550" dirty="0"/>
          </a:p>
        </p:txBody>
      </p:sp>
      <p:sp>
        <p:nvSpPr>
          <p:cNvPr id="29" name="Text 21"/>
          <p:cNvSpPr/>
          <p:nvPr/>
        </p:nvSpPr>
        <p:spPr>
          <a:xfrm>
            <a:off x="248022" y="33447782"/>
            <a:ext cx="8895978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[Tableau Dashboard 2 - Operational Efficiency &amp; Profitability]</a:t>
            </a:r>
            <a:endParaRPr lang="en-US" sz="5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70220BA-7C8E-4A6F-CCB7-09A40CD78F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08" y="-47414"/>
            <a:ext cx="9069492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73426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31131" y="244822"/>
            <a:ext cx="26240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Final Insights &amp; Recommendations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310083" y="434057"/>
            <a:ext cx="1616497" cy="143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Operational Insights: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310083" y="587350"/>
            <a:ext cx="1468859" cy="89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Key Drivers Behind Low NPS:</a:t>
            </a:r>
            <a:endParaRPr lang="en-US" sz="550" dirty="0"/>
          </a:p>
        </p:txBody>
      </p:sp>
      <p:sp>
        <p:nvSpPr>
          <p:cNvPr id="6" name="Shape 3"/>
          <p:cNvSpPr/>
          <p:nvPr/>
        </p:nvSpPr>
        <p:spPr>
          <a:xfrm>
            <a:off x="310083" y="743992"/>
            <a:ext cx="28724" cy="28724"/>
          </a:xfrm>
          <a:prstGeom prst="roundRect">
            <a:avLst>
              <a:gd name="adj" fmla="val 994813"/>
            </a:avLst>
          </a:prstGeom>
          <a:solidFill>
            <a:srgbClr val="8C98CA"/>
          </a:solidFill>
          <a:ln/>
        </p:spPr>
      </p:sp>
      <p:sp>
        <p:nvSpPr>
          <p:cNvPr id="7" name="Text 4"/>
          <p:cNvSpPr/>
          <p:nvPr/>
        </p:nvSpPr>
        <p:spPr>
          <a:xfrm>
            <a:off x="362173" y="712291"/>
            <a:ext cx="5042743" cy="64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4000"/>
              </a:lnSpc>
              <a:buNone/>
            </a:pPr>
            <a:r>
              <a:rPr lang="en-US" sz="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Long waiting times (avg 35.25 min, Emergency 49.2 min)</a:t>
            </a:r>
            <a:endParaRPr lang="en-US" sz="450" dirty="0"/>
          </a:p>
        </p:txBody>
      </p:sp>
      <p:sp>
        <p:nvSpPr>
          <p:cNvPr id="8" name="Shape 5"/>
          <p:cNvSpPr/>
          <p:nvPr/>
        </p:nvSpPr>
        <p:spPr>
          <a:xfrm>
            <a:off x="310083" y="865510"/>
            <a:ext cx="28724" cy="28724"/>
          </a:xfrm>
          <a:prstGeom prst="roundRect">
            <a:avLst>
              <a:gd name="adj" fmla="val 994813"/>
            </a:avLst>
          </a:prstGeom>
          <a:solidFill>
            <a:srgbClr val="8C98CA"/>
          </a:solidFill>
          <a:ln/>
        </p:spPr>
      </p:sp>
      <p:sp>
        <p:nvSpPr>
          <p:cNvPr id="9" name="Text 6"/>
          <p:cNvSpPr/>
          <p:nvPr/>
        </p:nvSpPr>
        <p:spPr>
          <a:xfrm>
            <a:off x="362173" y="833810"/>
            <a:ext cx="5042743" cy="64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4000"/>
              </a:lnSpc>
              <a:buNone/>
            </a:pPr>
            <a:r>
              <a:rPr lang="en-US" sz="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Delayed appointments (avg 18.64 min)</a:t>
            </a:r>
            <a:endParaRPr lang="en-US" sz="450" dirty="0"/>
          </a:p>
        </p:txBody>
      </p:sp>
      <p:sp>
        <p:nvSpPr>
          <p:cNvPr id="10" name="Shape 7"/>
          <p:cNvSpPr/>
          <p:nvPr/>
        </p:nvSpPr>
        <p:spPr>
          <a:xfrm>
            <a:off x="310083" y="987028"/>
            <a:ext cx="28724" cy="28724"/>
          </a:xfrm>
          <a:prstGeom prst="roundRect">
            <a:avLst>
              <a:gd name="adj" fmla="val 994813"/>
            </a:avLst>
          </a:prstGeom>
          <a:solidFill>
            <a:srgbClr val="8C98CA"/>
          </a:solidFill>
          <a:ln/>
        </p:spPr>
      </p:sp>
      <p:sp>
        <p:nvSpPr>
          <p:cNvPr id="11" name="Text 8"/>
          <p:cNvSpPr/>
          <p:nvPr/>
        </p:nvSpPr>
        <p:spPr>
          <a:xfrm>
            <a:off x="362173" y="955328"/>
            <a:ext cx="5042743" cy="64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4000"/>
              </a:lnSpc>
              <a:buNone/>
            </a:pPr>
            <a:r>
              <a:rPr lang="en-US" sz="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Lower service ratings (avg 3.75/5)</a:t>
            </a:r>
            <a:endParaRPr lang="en-US" sz="450" dirty="0"/>
          </a:p>
        </p:txBody>
      </p:sp>
      <p:sp>
        <p:nvSpPr>
          <p:cNvPr id="12" name="Shape 9"/>
          <p:cNvSpPr/>
          <p:nvPr/>
        </p:nvSpPr>
        <p:spPr>
          <a:xfrm>
            <a:off x="310083" y="1108546"/>
            <a:ext cx="28724" cy="28724"/>
          </a:xfrm>
          <a:prstGeom prst="roundRect">
            <a:avLst>
              <a:gd name="adj" fmla="val 994813"/>
            </a:avLst>
          </a:prstGeom>
          <a:solidFill>
            <a:srgbClr val="8C98CA"/>
          </a:solidFill>
          <a:ln/>
        </p:spPr>
      </p:sp>
      <p:sp>
        <p:nvSpPr>
          <p:cNvPr id="13" name="Text 10"/>
          <p:cNvSpPr/>
          <p:nvPr/>
        </p:nvSpPr>
        <p:spPr>
          <a:xfrm>
            <a:off x="362173" y="1076846"/>
            <a:ext cx="5042743" cy="64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4000"/>
              </a:lnSpc>
              <a:buNone/>
            </a:pPr>
            <a:r>
              <a:rPr lang="en-US" sz="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Staff interaction issues</a:t>
            </a:r>
            <a:endParaRPr lang="en-US" sz="450" dirty="0"/>
          </a:p>
        </p:txBody>
      </p:sp>
      <p:sp>
        <p:nvSpPr>
          <p:cNvPr id="14" name="Shape 11"/>
          <p:cNvSpPr/>
          <p:nvPr/>
        </p:nvSpPr>
        <p:spPr>
          <a:xfrm>
            <a:off x="310083" y="1230064"/>
            <a:ext cx="28724" cy="28724"/>
          </a:xfrm>
          <a:prstGeom prst="roundRect">
            <a:avLst>
              <a:gd name="adj" fmla="val 994813"/>
            </a:avLst>
          </a:prstGeom>
          <a:solidFill>
            <a:srgbClr val="8C98CA"/>
          </a:solidFill>
          <a:ln/>
        </p:spPr>
      </p:sp>
      <p:sp>
        <p:nvSpPr>
          <p:cNvPr id="15" name="Text 12"/>
          <p:cNvSpPr/>
          <p:nvPr/>
        </p:nvSpPr>
        <p:spPr>
          <a:xfrm>
            <a:off x="362173" y="1198364"/>
            <a:ext cx="5042743" cy="64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4000"/>
              </a:lnSpc>
              <a:buNone/>
            </a:pPr>
            <a:r>
              <a:rPr lang="en-US" sz="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Increased complaints (2,225 total)</a:t>
            </a:r>
            <a:endParaRPr lang="en-US" sz="450" dirty="0"/>
          </a:p>
        </p:txBody>
      </p:sp>
      <p:sp>
        <p:nvSpPr>
          <p:cNvPr id="16" name="Shape 13"/>
          <p:cNvSpPr/>
          <p:nvPr/>
        </p:nvSpPr>
        <p:spPr>
          <a:xfrm>
            <a:off x="310083" y="1351583"/>
            <a:ext cx="28724" cy="28724"/>
          </a:xfrm>
          <a:prstGeom prst="roundRect">
            <a:avLst>
              <a:gd name="adj" fmla="val 994813"/>
            </a:avLst>
          </a:prstGeom>
          <a:solidFill>
            <a:srgbClr val="8C98CA"/>
          </a:solidFill>
          <a:ln/>
        </p:spPr>
      </p:sp>
      <p:sp>
        <p:nvSpPr>
          <p:cNvPr id="17" name="Text 14"/>
          <p:cNvSpPr/>
          <p:nvPr/>
        </p:nvSpPr>
        <p:spPr>
          <a:xfrm>
            <a:off x="362173" y="1319882"/>
            <a:ext cx="5042743" cy="64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4000"/>
              </a:lnSpc>
              <a:buNone/>
            </a:pPr>
            <a:r>
              <a:rPr lang="en-US" sz="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Overloaded queues (avg 24.51 patients)</a:t>
            </a:r>
            <a:endParaRPr lang="en-US" sz="450" dirty="0"/>
          </a:p>
        </p:txBody>
      </p:sp>
      <p:sp>
        <p:nvSpPr>
          <p:cNvPr id="18" name="Text 15"/>
          <p:cNvSpPr/>
          <p:nvPr/>
        </p:nvSpPr>
        <p:spPr>
          <a:xfrm>
            <a:off x="310083" y="1429717"/>
            <a:ext cx="1609055" cy="143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Business Impact: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310083" y="1640458"/>
            <a:ext cx="28724" cy="28724"/>
          </a:xfrm>
          <a:prstGeom prst="roundRect">
            <a:avLst>
              <a:gd name="adj" fmla="val 994813"/>
            </a:avLst>
          </a:prstGeom>
          <a:solidFill>
            <a:srgbClr val="8C98CA"/>
          </a:solidFill>
          <a:ln/>
        </p:spPr>
      </p:sp>
      <p:sp>
        <p:nvSpPr>
          <p:cNvPr id="20" name="Text 17"/>
          <p:cNvSpPr/>
          <p:nvPr/>
        </p:nvSpPr>
        <p:spPr>
          <a:xfrm>
            <a:off x="362173" y="1608758"/>
            <a:ext cx="5042743" cy="64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4000"/>
              </a:lnSpc>
              <a:buNone/>
            </a:pPr>
            <a:r>
              <a:rPr lang="en-US" sz="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Reduced patient satisfaction (NPS 43.87)</a:t>
            </a:r>
            <a:endParaRPr lang="en-US" sz="450" dirty="0"/>
          </a:p>
        </p:txBody>
      </p:sp>
      <p:sp>
        <p:nvSpPr>
          <p:cNvPr id="21" name="Shape 18"/>
          <p:cNvSpPr/>
          <p:nvPr/>
        </p:nvSpPr>
        <p:spPr>
          <a:xfrm>
            <a:off x="310083" y="1761976"/>
            <a:ext cx="28724" cy="28724"/>
          </a:xfrm>
          <a:prstGeom prst="roundRect">
            <a:avLst>
              <a:gd name="adj" fmla="val 994813"/>
            </a:avLst>
          </a:prstGeom>
          <a:solidFill>
            <a:srgbClr val="8C98CA"/>
          </a:solidFill>
          <a:ln/>
        </p:spPr>
      </p:sp>
      <p:sp>
        <p:nvSpPr>
          <p:cNvPr id="22" name="Text 19"/>
          <p:cNvSpPr/>
          <p:nvPr/>
        </p:nvSpPr>
        <p:spPr>
          <a:xfrm>
            <a:off x="362173" y="1730276"/>
            <a:ext cx="5042743" cy="64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4000"/>
              </a:lnSpc>
              <a:buNone/>
            </a:pPr>
            <a:r>
              <a:rPr lang="en-US" sz="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Increased dissatisfaction risk</a:t>
            </a:r>
            <a:endParaRPr lang="en-US" sz="450" dirty="0"/>
          </a:p>
        </p:txBody>
      </p:sp>
      <p:sp>
        <p:nvSpPr>
          <p:cNvPr id="23" name="Shape 20"/>
          <p:cNvSpPr/>
          <p:nvPr/>
        </p:nvSpPr>
        <p:spPr>
          <a:xfrm>
            <a:off x="310083" y="1883494"/>
            <a:ext cx="28724" cy="28724"/>
          </a:xfrm>
          <a:prstGeom prst="roundRect">
            <a:avLst>
              <a:gd name="adj" fmla="val 994813"/>
            </a:avLst>
          </a:prstGeom>
          <a:solidFill>
            <a:srgbClr val="8C98CA"/>
          </a:solidFill>
          <a:ln/>
        </p:spPr>
      </p:sp>
      <p:sp>
        <p:nvSpPr>
          <p:cNvPr id="24" name="Text 21"/>
          <p:cNvSpPr/>
          <p:nvPr/>
        </p:nvSpPr>
        <p:spPr>
          <a:xfrm>
            <a:off x="362173" y="1851794"/>
            <a:ext cx="5042743" cy="64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4000"/>
              </a:lnSpc>
              <a:buNone/>
            </a:pPr>
            <a:r>
              <a:rPr lang="en-US" sz="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Reduced patient loyalty</a:t>
            </a:r>
            <a:endParaRPr lang="en-US" sz="450" dirty="0"/>
          </a:p>
        </p:txBody>
      </p:sp>
      <p:sp>
        <p:nvSpPr>
          <p:cNvPr id="25" name="Shape 22"/>
          <p:cNvSpPr/>
          <p:nvPr/>
        </p:nvSpPr>
        <p:spPr>
          <a:xfrm>
            <a:off x="310083" y="2005013"/>
            <a:ext cx="28724" cy="28724"/>
          </a:xfrm>
          <a:prstGeom prst="roundRect">
            <a:avLst>
              <a:gd name="adj" fmla="val 994813"/>
            </a:avLst>
          </a:prstGeom>
          <a:solidFill>
            <a:srgbClr val="8C98CA"/>
          </a:solidFill>
          <a:ln/>
        </p:spPr>
      </p:sp>
      <p:sp>
        <p:nvSpPr>
          <p:cNvPr id="26" name="Text 23"/>
          <p:cNvSpPr/>
          <p:nvPr/>
        </p:nvSpPr>
        <p:spPr>
          <a:xfrm>
            <a:off x="362173" y="1973312"/>
            <a:ext cx="5042743" cy="64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4000"/>
              </a:lnSpc>
              <a:buNone/>
            </a:pPr>
            <a:r>
              <a:rPr lang="en-US" sz="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Contributed to lower profitability (profit decline 0.8%)</a:t>
            </a:r>
            <a:endParaRPr lang="en-US" sz="450" dirty="0"/>
          </a:p>
        </p:txBody>
      </p:sp>
      <p:sp>
        <p:nvSpPr>
          <p:cNvPr id="27" name="Text 24"/>
          <p:cNvSpPr/>
          <p:nvPr/>
        </p:nvSpPr>
        <p:spPr>
          <a:xfrm>
            <a:off x="310083" y="2083147"/>
            <a:ext cx="1609055" cy="143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Recommendations: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310083" y="2236440"/>
            <a:ext cx="1714426" cy="89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How Can the Hospital Improve NPS?</a:t>
            </a:r>
            <a:endParaRPr lang="en-US" sz="550" dirty="0"/>
          </a:p>
        </p:txBody>
      </p:sp>
      <p:sp>
        <p:nvSpPr>
          <p:cNvPr id="29" name="Text 26"/>
          <p:cNvSpPr/>
          <p:nvPr/>
        </p:nvSpPr>
        <p:spPr>
          <a:xfrm>
            <a:off x="310083" y="2361381"/>
            <a:ext cx="115119" cy="71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50" dirty="0">
                <a:solidFill>
                  <a:srgbClr val="EBECEF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01</a:t>
            </a:r>
            <a:endParaRPr lang="en-US" sz="450" dirty="0"/>
          </a:p>
        </p:txBody>
      </p:sp>
      <p:sp>
        <p:nvSpPr>
          <p:cNvPr id="30" name="Shape 27"/>
          <p:cNvSpPr/>
          <p:nvPr/>
        </p:nvSpPr>
        <p:spPr>
          <a:xfrm>
            <a:off x="310083" y="2449637"/>
            <a:ext cx="2535734" cy="9525"/>
          </a:xfrm>
          <a:prstGeom prst="rect">
            <a:avLst/>
          </a:prstGeom>
          <a:solidFill>
            <a:srgbClr val="8C98CA"/>
          </a:solidFill>
          <a:ln/>
        </p:spPr>
      </p:sp>
      <p:sp>
        <p:nvSpPr>
          <p:cNvPr id="31" name="Text 28"/>
          <p:cNvSpPr/>
          <p:nvPr/>
        </p:nvSpPr>
        <p:spPr>
          <a:xfrm>
            <a:off x="310083" y="2497410"/>
            <a:ext cx="2535734" cy="64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4000"/>
              </a:lnSpc>
              <a:buNone/>
            </a:pPr>
            <a:r>
              <a:rPr lang="en-US" sz="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Reduce waiting times (target: &lt;35 min for all departments)</a:t>
            </a:r>
            <a:endParaRPr lang="en-US" sz="450" dirty="0"/>
          </a:p>
        </p:txBody>
      </p:sp>
      <p:sp>
        <p:nvSpPr>
          <p:cNvPr id="32" name="Text 29"/>
          <p:cNvSpPr/>
          <p:nvPr/>
        </p:nvSpPr>
        <p:spPr>
          <a:xfrm>
            <a:off x="2869183" y="2361381"/>
            <a:ext cx="115119" cy="71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50" dirty="0">
                <a:solidFill>
                  <a:srgbClr val="EBECEF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02</a:t>
            </a:r>
            <a:endParaRPr lang="en-US" sz="450" dirty="0"/>
          </a:p>
        </p:txBody>
      </p:sp>
      <p:sp>
        <p:nvSpPr>
          <p:cNvPr id="33" name="Shape 30"/>
          <p:cNvSpPr/>
          <p:nvPr/>
        </p:nvSpPr>
        <p:spPr>
          <a:xfrm>
            <a:off x="2869183" y="2449637"/>
            <a:ext cx="2535734" cy="9525"/>
          </a:xfrm>
          <a:prstGeom prst="rect">
            <a:avLst/>
          </a:prstGeom>
          <a:solidFill>
            <a:srgbClr val="8C98CA"/>
          </a:solidFill>
          <a:ln/>
        </p:spPr>
      </p:sp>
      <p:sp>
        <p:nvSpPr>
          <p:cNvPr id="34" name="Text 31"/>
          <p:cNvSpPr/>
          <p:nvPr/>
        </p:nvSpPr>
        <p:spPr>
          <a:xfrm>
            <a:off x="2869183" y="2497410"/>
            <a:ext cx="2535734" cy="64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4000"/>
              </a:lnSpc>
              <a:buNone/>
            </a:pPr>
            <a:r>
              <a:rPr lang="en-US" sz="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Improve appointment scheduling efficiency</a:t>
            </a:r>
            <a:endParaRPr lang="en-US" sz="450" dirty="0"/>
          </a:p>
        </p:txBody>
      </p:sp>
      <p:sp>
        <p:nvSpPr>
          <p:cNvPr id="35" name="Text 32"/>
          <p:cNvSpPr/>
          <p:nvPr/>
        </p:nvSpPr>
        <p:spPr>
          <a:xfrm>
            <a:off x="310083" y="2628677"/>
            <a:ext cx="115119" cy="71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50" dirty="0">
                <a:solidFill>
                  <a:srgbClr val="EBECEF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03</a:t>
            </a:r>
            <a:endParaRPr lang="en-US" sz="450" dirty="0"/>
          </a:p>
        </p:txBody>
      </p:sp>
      <p:sp>
        <p:nvSpPr>
          <p:cNvPr id="36" name="Shape 33"/>
          <p:cNvSpPr/>
          <p:nvPr/>
        </p:nvSpPr>
        <p:spPr>
          <a:xfrm>
            <a:off x="310083" y="2716932"/>
            <a:ext cx="2535734" cy="9525"/>
          </a:xfrm>
          <a:prstGeom prst="rect">
            <a:avLst/>
          </a:prstGeom>
          <a:solidFill>
            <a:srgbClr val="8C98CA"/>
          </a:solidFill>
          <a:ln/>
        </p:spPr>
      </p:sp>
      <p:sp>
        <p:nvSpPr>
          <p:cNvPr id="37" name="Text 34"/>
          <p:cNvSpPr/>
          <p:nvPr/>
        </p:nvSpPr>
        <p:spPr>
          <a:xfrm>
            <a:off x="310083" y="2764706"/>
            <a:ext cx="2535734" cy="64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4000"/>
              </a:lnSpc>
              <a:buNone/>
            </a:pPr>
            <a:r>
              <a:rPr lang="en-US" sz="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Increase staff responsiveness</a:t>
            </a:r>
            <a:endParaRPr lang="en-US" sz="450" dirty="0"/>
          </a:p>
        </p:txBody>
      </p:sp>
      <p:sp>
        <p:nvSpPr>
          <p:cNvPr id="38" name="Text 35"/>
          <p:cNvSpPr/>
          <p:nvPr/>
        </p:nvSpPr>
        <p:spPr>
          <a:xfrm>
            <a:off x="2869183" y="2628677"/>
            <a:ext cx="115119" cy="71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50" dirty="0">
                <a:solidFill>
                  <a:srgbClr val="EBECEF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04</a:t>
            </a:r>
            <a:endParaRPr lang="en-US" sz="450" dirty="0"/>
          </a:p>
        </p:txBody>
      </p:sp>
      <p:sp>
        <p:nvSpPr>
          <p:cNvPr id="39" name="Shape 36"/>
          <p:cNvSpPr/>
          <p:nvPr/>
        </p:nvSpPr>
        <p:spPr>
          <a:xfrm>
            <a:off x="2869183" y="2716932"/>
            <a:ext cx="2535734" cy="9525"/>
          </a:xfrm>
          <a:prstGeom prst="rect">
            <a:avLst/>
          </a:prstGeom>
          <a:solidFill>
            <a:srgbClr val="8C98CA"/>
          </a:solidFill>
          <a:ln/>
        </p:spPr>
      </p:sp>
      <p:sp>
        <p:nvSpPr>
          <p:cNvPr id="40" name="Text 37"/>
          <p:cNvSpPr/>
          <p:nvPr/>
        </p:nvSpPr>
        <p:spPr>
          <a:xfrm>
            <a:off x="2869183" y="2764706"/>
            <a:ext cx="2535734" cy="64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4000"/>
              </a:lnSpc>
              <a:buNone/>
            </a:pPr>
            <a:r>
              <a:rPr lang="en-US" sz="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Monitor complaints in real time</a:t>
            </a:r>
            <a:endParaRPr lang="en-US" sz="450" dirty="0"/>
          </a:p>
        </p:txBody>
      </p:sp>
      <p:sp>
        <p:nvSpPr>
          <p:cNvPr id="41" name="Text 38"/>
          <p:cNvSpPr/>
          <p:nvPr/>
        </p:nvSpPr>
        <p:spPr>
          <a:xfrm>
            <a:off x="310083" y="2895972"/>
            <a:ext cx="115119" cy="71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50" dirty="0">
                <a:solidFill>
                  <a:srgbClr val="EBECEF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05</a:t>
            </a:r>
            <a:endParaRPr lang="en-US" sz="450" dirty="0"/>
          </a:p>
        </p:txBody>
      </p:sp>
      <p:sp>
        <p:nvSpPr>
          <p:cNvPr id="42" name="Shape 39"/>
          <p:cNvSpPr/>
          <p:nvPr/>
        </p:nvSpPr>
        <p:spPr>
          <a:xfrm>
            <a:off x="310083" y="2984227"/>
            <a:ext cx="2535734" cy="9525"/>
          </a:xfrm>
          <a:prstGeom prst="rect">
            <a:avLst/>
          </a:prstGeom>
          <a:solidFill>
            <a:srgbClr val="8C98CA"/>
          </a:solidFill>
          <a:ln/>
        </p:spPr>
      </p:sp>
      <p:sp>
        <p:nvSpPr>
          <p:cNvPr id="43" name="Text 40"/>
          <p:cNvSpPr/>
          <p:nvPr/>
        </p:nvSpPr>
        <p:spPr>
          <a:xfrm>
            <a:off x="310083" y="3032001"/>
            <a:ext cx="2535734" cy="64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4000"/>
              </a:lnSpc>
              <a:buNone/>
            </a:pPr>
            <a:r>
              <a:rPr lang="en-US" sz="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Improve service quality standards</a:t>
            </a:r>
            <a:endParaRPr lang="en-US" sz="450" dirty="0"/>
          </a:p>
        </p:txBody>
      </p:sp>
      <p:sp>
        <p:nvSpPr>
          <p:cNvPr id="44" name="Text 41"/>
          <p:cNvSpPr/>
          <p:nvPr/>
        </p:nvSpPr>
        <p:spPr>
          <a:xfrm>
            <a:off x="2869183" y="2895972"/>
            <a:ext cx="115119" cy="71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50" dirty="0">
                <a:solidFill>
                  <a:srgbClr val="EBECEF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06</a:t>
            </a:r>
            <a:endParaRPr lang="en-US" sz="450" dirty="0"/>
          </a:p>
        </p:txBody>
      </p:sp>
      <p:sp>
        <p:nvSpPr>
          <p:cNvPr id="45" name="Shape 42"/>
          <p:cNvSpPr/>
          <p:nvPr/>
        </p:nvSpPr>
        <p:spPr>
          <a:xfrm>
            <a:off x="2869183" y="2984227"/>
            <a:ext cx="2535734" cy="9525"/>
          </a:xfrm>
          <a:prstGeom prst="rect">
            <a:avLst/>
          </a:prstGeom>
          <a:solidFill>
            <a:srgbClr val="8C98CA"/>
          </a:solidFill>
          <a:ln/>
        </p:spPr>
      </p:sp>
      <p:sp>
        <p:nvSpPr>
          <p:cNvPr id="46" name="Text 43"/>
          <p:cNvSpPr/>
          <p:nvPr/>
        </p:nvSpPr>
        <p:spPr>
          <a:xfrm>
            <a:off x="2869183" y="3032001"/>
            <a:ext cx="2535734" cy="64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4000"/>
              </a:lnSpc>
              <a:buNone/>
            </a:pPr>
            <a:r>
              <a:rPr lang="en-US" sz="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Optimize queue management</a:t>
            </a:r>
            <a:endParaRPr lang="en-US" sz="450" dirty="0"/>
          </a:p>
        </p:txBody>
      </p:sp>
      <p:sp>
        <p:nvSpPr>
          <p:cNvPr id="47" name="Text 44"/>
          <p:cNvSpPr/>
          <p:nvPr/>
        </p:nvSpPr>
        <p:spPr>
          <a:xfrm>
            <a:off x="310083" y="3163267"/>
            <a:ext cx="115119" cy="71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50" dirty="0">
                <a:solidFill>
                  <a:srgbClr val="EBECEF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07</a:t>
            </a:r>
            <a:endParaRPr lang="en-US" sz="450" dirty="0"/>
          </a:p>
        </p:txBody>
      </p:sp>
      <p:sp>
        <p:nvSpPr>
          <p:cNvPr id="48" name="Shape 45"/>
          <p:cNvSpPr/>
          <p:nvPr/>
        </p:nvSpPr>
        <p:spPr>
          <a:xfrm>
            <a:off x="310083" y="3251522"/>
            <a:ext cx="5094833" cy="9525"/>
          </a:xfrm>
          <a:prstGeom prst="rect">
            <a:avLst/>
          </a:prstGeom>
          <a:solidFill>
            <a:srgbClr val="8C98CA"/>
          </a:solidFill>
          <a:ln/>
        </p:spPr>
      </p:sp>
      <p:sp>
        <p:nvSpPr>
          <p:cNvPr id="49" name="Text 46"/>
          <p:cNvSpPr/>
          <p:nvPr/>
        </p:nvSpPr>
        <p:spPr>
          <a:xfrm>
            <a:off x="310083" y="3299296"/>
            <a:ext cx="5094833" cy="64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4000"/>
              </a:lnSpc>
              <a:buNone/>
            </a:pPr>
            <a:r>
              <a:rPr lang="en-US" sz="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Benchmark low-performing branches against top-performing branches (South: 45.05 NPS)</a:t>
            </a:r>
            <a:endParaRPr lang="en-US" sz="450" dirty="0"/>
          </a:p>
        </p:txBody>
      </p:sp>
      <p:sp>
        <p:nvSpPr>
          <p:cNvPr id="50" name="Text 47"/>
          <p:cNvSpPr/>
          <p:nvPr/>
        </p:nvSpPr>
        <p:spPr>
          <a:xfrm>
            <a:off x="310083" y="3442246"/>
            <a:ext cx="1370037" cy="89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Expected Business Impact:</a:t>
            </a:r>
            <a:endParaRPr lang="en-US" sz="550" dirty="0"/>
          </a:p>
        </p:txBody>
      </p:sp>
      <p:sp>
        <p:nvSpPr>
          <p:cNvPr id="51" name="Shape 48"/>
          <p:cNvSpPr/>
          <p:nvPr/>
        </p:nvSpPr>
        <p:spPr>
          <a:xfrm>
            <a:off x="310083" y="3598887"/>
            <a:ext cx="28724" cy="28724"/>
          </a:xfrm>
          <a:prstGeom prst="roundRect">
            <a:avLst>
              <a:gd name="adj" fmla="val 994813"/>
            </a:avLst>
          </a:prstGeom>
          <a:solidFill>
            <a:srgbClr val="8C98CA"/>
          </a:solidFill>
          <a:ln/>
        </p:spPr>
      </p:sp>
      <p:sp>
        <p:nvSpPr>
          <p:cNvPr id="52" name="Text 49"/>
          <p:cNvSpPr/>
          <p:nvPr/>
        </p:nvSpPr>
        <p:spPr>
          <a:xfrm>
            <a:off x="362173" y="3567187"/>
            <a:ext cx="5042743" cy="64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4000"/>
              </a:lnSpc>
              <a:buNone/>
            </a:pPr>
            <a:r>
              <a:rPr lang="en-US" sz="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Increase patient retention</a:t>
            </a:r>
            <a:endParaRPr lang="en-US" sz="450" dirty="0"/>
          </a:p>
        </p:txBody>
      </p:sp>
      <p:sp>
        <p:nvSpPr>
          <p:cNvPr id="53" name="Shape 50"/>
          <p:cNvSpPr/>
          <p:nvPr/>
        </p:nvSpPr>
        <p:spPr>
          <a:xfrm>
            <a:off x="310083" y="3720405"/>
            <a:ext cx="28724" cy="28724"/>
          </a:xfrm>
          <a:prstGeom prst="roundRect">
            <a:avLst>
              <a:gd name="adj" fmla="val 994813"/>
            </a:avLst>
          </a:prstGeom>
          <a:solidFill>
            <a:srgbClr val="8C98CA"/>
          </a:solidFill>
          <a:ln/>
        </p:spPr>
      </p:sp>
      <p:sp>
        <p:nvSpPr>
          <p:cNvPr id="54" name="Text 51"/>
          <p:cNvSpPr/>
          <p:nvPr/>
        </p:nvSpPr>
        <p:spPr>
          <a:xfrm>
            <a:off x="362173" y="3688705"/>
            <a:ext cx="5042743" cy="64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4000"/>
              </a:lnSpc>
              <a:buNone/>
            </a:pPr>
            <a:r>
              <a:rPr lang="en-US" sz="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Improve hospital reputation</a:t>
            </a:r>
            <a:endParaRPr lang="en-US" sz="450" dirty="0"/>
          </a:p>
        </p:txBody>
      </p:sp>
      <p:sp>
        <p:nvSpPr>
          <p:cNvPr id="55" name="Shape 52"/>
          <p:cNvSpPr/>
          <p:nvPr/>
        </p:nvSpPr>
        <p:spPr>
          <a:xfrm>
            <a:off x="310083" y="3841924"/>
            <a:ext cx="28724" cy="28724"/>
          </a:xfrm>
          <a:prstGeom prst="roundRect">
            <a:avLst>
              <a:gd name="adj" fmla="val 994813"/>
            </a:avLst>
          </a:prstGeom>
          <a:solidFill>
            <a:srgbClr val="8C98CA"/>
          </a:solidFill>
          <a:ln/>
        </p:spPr>
      </p:sp>
      <p:sp>
        <p:nvSpPr>
          <p:cNvPr id="56" name="Text 53"/>
          <p:cNvSpPr/>
          <p:nvPr/>
        </p:nvSpPr>
        <p:spPr>
          <a:xfrm>
            <a:off x="362173" y="3810223"/>
            <a:ext cx="5042743" cy="64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4000"/>
              </a:lnSpc>
              <a:buNone/>
            </a:pPr>
            <a:r>
              <a:rPr lang="en-US" sz="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Increase revisit rate</a:t>
            </a:r>
            <a:endParaRPr lang="en-US" sz="450" dirty="0"/>
          </a:p>
        </p:txBody>
      </p:sp>
      <p:sp>
        <p:nvSpPr>
          <p:cNvPr id="57" name="Shape 54"/>
          <p:cNvSpPr/>
          <p:nvPr/>
        </p:nvSpPr>
        <p:spPr>
          <a:xfrm>
            <a:off x="310083" y="3963442"/>
            <a:ext cx="28724" cy="28724"/>
          </a:xfrm>
          <a:prstGeom prst="roundRect">
            <a:avLst>
              <a:gd name="adj" fmla="val 994813"/>
            </a:avLst>
          </a:prstGeom>
          <a:solidFill>
            <a:srgbClr val="8C98CA"/>
          </a:solidFill>
          <a:ln/>
        </p:spPr>
      </p:sp>
      <p:sp>
        <p:nvSpPr>
          <p:cNvPr id="58" name="Text 55"/>
          <p:cNvSpPr/>
          <p:nvPr/>
        </p:nvSpPr>
        <p:spPr>
          <a:xfrm>
            <a:off x="362173" y="3931741"/>
            <a:ext cx="5042743" cy="64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4000"/>
              </a:lnSpc>
              <a:buNone/>
            </a:pPr>
            <a:r>
              <a:rPr lang="en-US" sz="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Improve long-term profitability</a:t>
            </a:r>
            <a:endParaRPr lang="en-US" sz="450" dirty="0"/>
          </a:p>
        </p:txBody>
      </p:sp>
      <p:sp>
        <p:nvSpPr>
          <p:cNvPr id="59" name="Text 56"/>
          <p:cNvSpPr/>
          <p:nvPr/>
        </p:nvSpPr>
        <p:spPr>
          <a:xfrm>
            <a:off x="310083" y="4041577"/>
            <a:ext cx="1609055" cy="143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Final Conclusion:</a:t>
            </a:r>
            <a:endParaRPr lang="en-US" sz="900" dirty="0"/>
          </a:p>
        </p:txBody>
      </p:sp>
      <p:sp>
        <p:nvSpPr>
          <p:cNvPr id="60" name="Text 57"/>
          <p:cNvSpPr/>
          <p:nvPr/>
        </p:nvSpPr>
        <p:spPr>
          <a:xfrm>
            <a:off x="310083" y="4194870"/>
            <a:ext cx="1177082" cy="89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Final Business Story:</a:t>
            </a:r>
            <a:endParaRPr lang="en-US" sz="550" dirty="0"/>
          </a:p>
        </p:txBody>
      </p:sp>
      <p:sp>
        <p:nvSpPr>
          <p:cNvPr id="61" name="Text 58"/>
          <p:cNvSpPr/>
          <p:nvPr/>
        </p:nvSpPr>
        <p:spPr>
          <a:xfrm>
            <a:off x="310083" y="4319811"/>
            <a:ext cx="5552033" cy="64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4000"/>
              </a:lnSpc>
              <a:buNone/>
            </a:pPr>
            <a:r>
              <a:rPr lang="en-US" sz="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The analysis confirmed that:</a:t>
            </a:r>
            <a:endParaRPr lang="en-US" sz="450" dirty="0"/>
          </a:p>
        </p:txBody>
      </p:sp>
      <p:sp>
        <p:nvSpPr>
          <p:cNvPr id="62" name="Text 59"/>
          <p:cNvSpPr/>
          <p:nvPr/>
        </p:nvSpPr>
        <p:spPr>
          <a:xfrm>
            <a:off x="310083" y="4410819"/>
            <a:ext cx="5094833" cy="210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94000"/>
              </a:lnSpc>
              <a:buSzPct val="100000"/>
              <a:buChar char="•"/>
            </a:pPr>
            <a:r>
              <a:rPr lang="en-US" sz="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NPS decline was not random</a:t>
            </a:r>
            <a:endParaRPr lang="en-US" sz="450" dirty="0"/>
          </a:p>
          <a:p>
            <a:pPr marL="342900" indent="-342900" algn="l">
              <a:lnSpc>
                <a:spcPct val="94000"/>
              </a:lnSpc>
              <a:buSzPct val="100000"/>
              <a:buChar char="•"/>
            </a:pPr>
            <a:r>
              <a:rPr lang="en-US" sz="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Operational inefficiencies directly impacted patient satisfaction</a:t>
            </a:r>
            <a:endParaRPr lang="en-US" sz="450" dirty="0"/>
          </a:p>
          <a:p>
            <a:pPr marL="342900" indent="-342900" algn="l">
              <a:lnSpc>
                <a:spcPct val="94000"/>
              </a:lnSpc>
              <a:buSzPct val="100000"/>
              <a:buChar char="•"/>
            </a:pPr>
            <a:r>
              <a:rPr lang="en-US" sz="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Lower patient satisfaction contributed to declining profitability</a:t>
            </a:r>
            <a:endParaRPr lang="en-US" sz="450" dirty="0"/>
          </a:p>
        </p:txBody>
      </p:sp>
      <p:sp>
        <p:nvSpPr>
          <p:cNvPr id="63" name="Text 60"/>
          <p:cNvSpPr/>
          <p:nvPr/>
        </p:nvSpPr>
        <p:spPr>
          <a:xfrm>
            <a:off x="310083" y="4656460"/>
            <a:ext cx="1177082" cy="89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Final Takeaway:</a:t>
            </a:r>
            <a:endParaRPr lang="en-US" sz="550" dirty="0"/>
          </a:p>
        </p:txBody>
      </p:sp>
      <p:sp>
        <p:nvSpPr>
          <p:cNvPr id="64" name="Text 61"/>
          <p:cNvSpPr/>
          <p:nvPr/>
        </p:nvSpPr>
        <p:spPr>
          <a:xfrm>
            <a:off x="396404" y="4807669"/>
            <a:ext cx="5465713" cy="64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4000"/>
              </a:lnSpc>
              <a:buNone/>
            </a:pPr>
            <a:r>
              <a:rPr lang="en-US" sz="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"Better patient experience leads to stronger loyalty, stronger retention, and higher profitability."</a:t>
            </a:r>
            <a:endParaRPr lang="en-US" sz="450" dirty="0"/>
          </a:p>
        </p:txBody>
      </p:sp>
      <p:sp>
        <p:nvSpPr>
          <p:cNvPr id="65" name="Shape 62"/>
          <p:cNvSpPr/>
          <p:nvPr/>
        </p:nvSpPr>
        <p:spPr>
          <a:xfrm>
            <a:off x="310083" y="4781401"/>
            <a:ext cx="9525" cy="117277"/>
          </a:xfrm>
          <a:prstGeom prst="rect">
            <a:avLst/>
          </a:prstGeom>
          <a:solidFill>
            <a:srgbClr val="8C98CA"/>
          </a:solidFill>
          <a:ln/>
        </p:spPr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E26">
              <a:alpha val="8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2659931" y="419249"/>
            <a:ext cx="3595539" cy="4208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6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Thank You</a:t>
            </a:r>
            <a:endParaRPr lang="en-US" sz="2650" dirty="0"/>
          </a:p>
        </p:txBody>
      </p:sp>
      <p:sp>
        <p:nvSpPr>
          <p:cNvPr id="5" name="Text 2"/>
          <p:cNvSpPr/>
          <p:nvPr/>
        </p:nvSpPr>
        <p:spPr>
          <a:xfrm>
            <a:off x="957709" y="891257"/>
            <a:ext cx="6999908" cy="252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HOSPITALIA Health &amp; Wellness - Patient Experience Analytics Project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469478" y="1479575"/>
            <a:ext cx="8178403" cy="21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"Data-Driven Insights for Better Patient Care and Profitability"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496119" y="1335658"/>
            <a:ext cx="19050" cy="497904"/>
          </a:xfrm>
          <a:prstGeom prst="rect">
            <a:avLst/>
          </a:prstGeom>
          <a:solidFill>
            <a:srgbClr val="8C98CA"/>
          </a:solidFill>
          <a:ln/>
        </p:spPr>
      </p:sp>
      <p:sp>
        <p:nvSpPr>
          <p:cNvPr id="8" name="Shape 5"/>
          <p:cNvSpPr/>
          <p:nvPr/>
        </p:nvSpPr>
        <p:spPr>
          <a:xfrm>
            <a:off x="496119" y="2011114"/>
            <a:ext cx="8151763" cy="10046"/>
          </a:xfrm>
          <a:prstGeom prst="rect">
            <a:avLst/>
          </a:prstGeom>
          <a:solidFill>
            <a:srgbClr val="EBECEF">
              <a:alpha val="5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496119" y="2326630"/>
            <a:ext cx="2140669" cy="210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Project Team: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96119" y="2664916"/>
            <a:ext cx="4759598" cy="14393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Amr Zaki (Data Cleaning &amp; Modeling, SQL, Power BI)</a:t>
            </a:r>
            <a:endParaRPr lang="en-US" sz="1050" dirty="0"/>
          </a:p>
          <a:p>
            <a:pPr marL="342900" indent="-342900" algn="l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Omnia Magdy (Tableau Dashboards &amp; Presentation)</a:t>
            </a:r>
            <a:endParaRPr lang="en-US" sz="1050" dirty="0"/>
          </a:p>
          <a:p>
            <a:pPr marL="342900" indent="-342900" algn="l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Rawan Mahmoud (Data Analysis, Excel Dashboard, Python, Documentation)</a:t>
            </a:r>
            <a:endParaRPr lang="en-US" sz="1050" dirty="0"/>
          </a:p>
          <a:p>
            <a:pPr marL="342900" indent="-342900" algn="l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Fatma Ali (Excel Statistics &amp; Descriptive Analysis, Power BI)</a:t>
            </a:r>
            <a:endParaRPr lang="en-US" sz="1050" dirty="0"/>
          </a:p>
          <a:p>
            <a:pPr marL="342900" indent="-342900" algn="l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Mostafa Samir (Insights Support)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589091" y="2326630"/>
            <a:ext cx="2140669" cy="210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Prepared by: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589091" y="2664916"/>
            <a:ext cx="3520678" cy="21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Dr. Amal Mahmoud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589091" y="3002905"/>
            <a:ext cx="2140669" cy="210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Academic Year: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589091" y="3341191"/>
            <a:ext cx="3520678" cy="21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2024-2025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96119" y="4326508"/>
            <a:ext cx="8151763" cy="10046"/>
          </a:xfrm>
          <a:prstGeom prst="rect">
            <a:avLst/>
          </a:prstGeom>
          <a:solidFill>
            <a:srgbClr val="EBECEF">
              <a:alpha val="5000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267519" y="4514106"/>
            <a:ext cx="8380363" cy="21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Care · Compassion · Excellence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3355</Words>
  <Application>Microsoft Office PowerPoint</Application>
  <PresentationFormat>On-screen Show (16:9)</PresentationFormat>
  <Paragraphs>468</Paragraphs>
  <Slides>33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8" baseType="lpstr">
      <vt:lpstr>Epilogue</vt:lpstr>
      <vt:lpstr>Fraunces Medium</vt:lpstr>
      <vt:lpstr>Fraunces Light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RAWAN MAHMOUD</dc:creator>
  <cp:lastModifiedBy>Rowan.Mahmoud.2024@commerce.helwan.edu.eg</cp:lastModifiedBy>
  <cp:revision>3</cp:revision>
  <dcterms:created xsi:type="dcterms:W3CDTF">2026-05-21T15:07:38Z</dcterms:created>
  <dcterms:modified xsi:type="dcterms:W3CDTF">2026-05-21T15:19:10Z</dcterms:modified>
</cp:coreProperties>
</file>